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Gaps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0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0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B92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547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0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5E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1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35E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Checklist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A8"/>
              </a:solidFill>
              <a:effectLst/>
            </c:spPr>
          </c:dPt>
          <c:dPt>
            <c:idx val="1"/>
            <c:bubble3D val="0"/>
            <c:spPr>
              <a:solidFill>
                <a:srgbClr val="6C4CE0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bubble3D val="0"/>
            <c:spPr>
              <a:solidFill>
                <a:srgbClr val="FF547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Compliant</c:v>
                </c:pt>
                <c:pt idx="1">
                  <c:v>In Progress</c:v>
                </c:pt>
                <c:pt idx="2">
                  <c:v>Pending</c:v>
                </c:pt>
                <c:pt idx="3">
                  <c:v>Gap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21</c:v>
                </c:pt>
                <c:pt idx="2">
                  <c:v>28</c:v>
                </c:pt>
                <c:pt idx="3">
                  <c:v>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1A153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7" Type="http://schemas.openxmlformats.org/officeDocument/2006/relationships/image" Target="../media/image-9-6.png"/><Relationship Id="rId8" Type="http://schemas.openxmlformats.org/officeDocument/2006/relationships/image" Target="../media/image-9-7.png"/><Relationship Id="rId9" Type="http://schemas.openxmlformats.org/officeDocument/2006/relationships/image" Target="../media/image-9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7315200" cy="7315200"/>
          </a:xfrm>
          <a:prstGeom prst="ellipse">
            <a:avLst/>
          </a:prstGeom>
          <a:solidFill>
            <a:srgbClr val="1B1464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3840480"/>
            <a:ext cx="5943600" cy="5943600"/>
          </a:xfrm>
          <a:prstGeom prst="ellipse">
            <a:avLst/>
          </a:prstGeom>
          <a:solidFill>
            <a:srgbClr val="6C4CE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TECHSPRINT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 · Agentic Compliance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RegLens-AI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regulatory text to operational action — automatically.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pipeline that reads SEBI circulars, extracts machine-actionable obligations with verbatim citations, and drives every intermediary's compliance checklist — end to end, fully auditable.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074920"/>
            <a:ext cx="6035040" cy="1234440"/>
          </a:xfrm>
          <a:prstGeom prst="roundRect">
            <a:avLst>
              <a:gd name="adj" fmla="val 888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VIBEARC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550468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Kasmani   ·   Saeed Khan   ·   Zubiya Quadri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378440" y="5212080"/>
            <a:ext cx="868680" cy="86868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5610" y="5429250"/>
            <a:ext cx="434340" cy="4343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Regulation moves in text. Compliance runs on systems.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issues circulars continuously. Every one carries obligations for intermediaries — but turning that text into tracked, auditable operational action is still a manual, circular-by-circular slog.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6712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229185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185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600200" y="24231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Regulatory Translation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8680" y="299008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a new/amended circular, mapping it to the right intermediary category, and updating workflows — today, entirely manual legal interpretation.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36393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4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965960" y="3749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interpretation today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355080" y="1874520"/>
            <a:ext cx="5257800" cy="2331720"/>
          </a:xfrm>
          <a:prstGeom prst="roundRect">
            <a:avLst>
              <a:gd name="adj" fmla="val 5490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75120" y="2167128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844" y="2291852"/>
            <a:ext cx="317480" cy="317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06640" y="2185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406640" y="24231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Ongoing Compliance Management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675120" y="2990088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obligations, mapping evidence, maintaining audit trails, and catching gaps before they become findings — hardest for smaller intermediaries.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675120" y="36393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C4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7772400" y="3749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gap-detection today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0F0B2E"/>
          </a:solidFill>
          <a:ln/>
        </p:spPr>
      </p:sp>
      <p:sp>
        <p:nvSpPr>
          <p:cNvPr id="22" name="Shape 18"/>
          <p:cNvSpPr/>
          <p:nvPr/>
        </p:nvSpPr>
        <p:spPr>
          <a:xfrm>
            <a:off x="896112" y="4791456"/>
            <a:ext cx="896112" cy="896112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" y="5015484"/>
            <a:ext cx="448056" cy="4480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1168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2011680" y="4956048"/>
            <a:ext cx="9052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regulatory framework exists as unstructured, human-readable text — while compliance systems need structured, machine-actionable rules. Bridging that gap is the unsolved problem.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926080"/>
            <a:ext cx="6400800" cy="6400800"/>
          </a:xfrm>
          <a:prstGeom prst="ellipse">
            <a:avLst/>
          </a:prstGeom>
          <a:solidFill>
            <a:srgbClr val="1B1464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pipeline. Text in — operational compliance out.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is an agentic compliance platform for SEBI-regulated intermediaries. It reads circulars, extracts obligations with LLM agents, and keeps every client's checklist, evidence, and audit trail live — for Investment Advisers today, any category tomorrow.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574036" cy="3200400"/>
          </a:xfrm>
          <a:prstGeom prst="roundRect">
            <a:avLst>
              <a:gd name="adj" fmla="val 497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807208"/>
            <a:ext cx="566928" cy="56692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311" y="2943271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356616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Extraction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20253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Gemini turn raw circular text into structured, citation-grounded obligations.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8708" y="2514600"/>
            <a:ext cx="2574036" cy="3200400"/>
          </a:xfrm>
          <a:prstGeom prst="roundRect">
            <a:avLst>
              <a:gd name="adj" fmla="val 497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71316" y="2807208"/>
            <a:ext cx="566928" cy="56692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379" y="294327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3028" y="356616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Fan-Out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653028" y="4206240"/>
            <a:ext cx="20253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an obligation instantly propagates checklist items across every matching intermediary &amp; client.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08776" y="2514600"/>
            <a:ext cx="2574036" cy="3200400"/>
          </a:xfrm>
          <a:prstGeom prst="roundRect">
            <a:avLst>
              <a:gd name="adj" fmla="val 497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01384" y="2807208"/>
            <a:ext cx="566928" cy="56692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447" y="2943271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83096" y="356616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Compliance Tracking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83096" y="4206240"/>
            <a:ext cx="20253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evidence, and deadlines tracked per obligation per client — not spreadsheets.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038844" y="2514600"/>
            <a:ext cx="2574036" cy="3200400"/>
          </a:xfrm>
          <a:prstGeom prst="roundRect">
            <a:avLst>
              <a:gd name="adj" fmla="val 4973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331452" y="2807208"/>
            <a:ext cx="566928" cy="56692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515" y="2943271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13164" y="3566160"/>
            <a:ext cx="2025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Detection &amp; Audit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13164" y="4206240"/>
            <a:ext cx="20253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evidence, blown deadlines, and stale proof are flagged by severity, with a full audit trail.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publish action, an entire compliance ecosystem updates.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81328" cy="3246120"/>
          </a:xfrm>
          <a:prstGeom prst="roundRect">
            <a:avLst>
              <a:gd name="adj" fmla="val 7407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20665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33272" y="2450592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486" y="2565806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27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7512" y="3547872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PDF uploaded to R2 object storage.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011680" y="3337560"/>
            <a:ext cx="28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153412" y="1920240"/>
            <a:ext cx="1481328" cy="32461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63140" y="20665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638044" y="2450592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258" y="2565806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44852" y="3127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272284" y="3547872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Docling + PaddleOCR extract structure, tables, page/section-tagged text.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16452" y="3337560"/>
            <a:ext cx="28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3758184" y="1920240"/>
            <a:ext cx="1481328" cy="3246120"/>
          </a:xfrm>
          <a:prstGeom prst="roundRect">
            <a:avLst>
              <a:gd name="adj" fmla="val 7407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67912" y="20665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4242816" y="2450592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030" y="2565806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849624" y="3127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3877056" y="3547872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001 indexes chunks into pgvector for grounded retrieval.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221224" y="3337560"/>
            <a:ext cx="28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5362956" y="1920240"/>
            <a:ext cx="1481328" cy="32461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472684" y="20665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847588" y="2450592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802" y="2565806"/>
            <a:ext cx="281635" cy="28163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54396" y="3127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5481828" y="3547872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 (Gemini 2.5 Flash) proposes obligations with verbatim citations.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825996" y="3337560"/>
            <a:ext cx="28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Shape 26"/>
          <p:cNvSpPr/>
          <p:nvPr/>
        </p:nvSpPr>
        <p:spPr>
          <a:xfrm>
            <a:off x="6967728" y="1920240"/>
            <a:ext cx="1481328" cy="3246120"/>
          </a:xfrm>
          <a:prstGeom prst="roundRect">
            <a:avLst>
              <a:gd name="adj" fmla="val 7407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077456" y="20665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7452360" y="2450592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7574" y="2565806"/>
            <a:ext cx="281635" cy="28163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059168" y="3127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Publish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7086600" y="3547872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verifies citation-grounded obligation, publishes DRAFT → PUBLISHED.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8430768" y="3337560"/>
            <a:ext cx="28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9" name="Shape 32"/>
          <p:cNvSpPr/>
          <p:nvPr/>
        </p:nvSpPr>
        <p:spPr>
          <a:xfrm>
            <a:off x="8572500" y="1920240"/>
            <a:ext cx="1481328" cy="32461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682228" y="20665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41" name="Shape 34"/>
          <p:cNvSpPr/>
          <p:nvPr/>
        </p:nvSpPr>
        <p:spPr>
          <a:xfrm>
            <a:off x="9057132" y="2450592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2346" y="2565806"/>
            <a:ext cx="281635" cy="281635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663940" y="3127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Fan-Out</a:t>
            </a:r>
            <a:endParaRPr lang="en-US" sz="1250" dirty="0"/>
          </a:p>
        </p:txBody>
      </p:sp>
      <p:sp>
        <p:nvSpPr>
          <p:cNvPr id="44" name="Text 36"/>
          <p:cNvSpPr/>
          <p:nvPr/>
        </p:nvSpPr>
        <p:spPr>
          <a:xfrm>
            <a:off x="8691372" y="3547872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items auto-created for every matching intermediary &amp; client.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10035540" y="3337560"/>
            <a:ext cx="288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6" name="Shape 38"/>
          <p:cNvSpPr/>
          <p:nvPr/>
        </p:nvSpPr>
        <p:spPr>
          <a:xfrm>
            <a:off x="10177272" y="1920240"/>
            <a:ext cx="1481328" cy="3246120"/>
          </a:xfrm>
          <a:prstGeom prst="roundRect">
            <a:avLst>
              <a:gd name="adj" fmla="val 7407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10287000" y="2066544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E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48" name="Shape 40"/>
          <p:cNvSpPr/>
          <p:nvPr/>
        </p:nvSpPr>
        <p:spPr>
          <a:xfrm>
            <a:off x="10661904" y="2450592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7118" y="2565806"/>
            <a:ext cx="281635" cy="281635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10268712" y="3127248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&amp; Audit</a:t>
            </a:r>
            <a:endParaRPr lang="en-US" sz="1250" dirty="0"/>
          </a:p>
        </p:txBody>
      </p:sp>
      <p:sp>
        <p:nvSpPr>
          <p:cNvPr id="51" name="Text 42"/>
          <p:cNvSpPr/>
          <p:nvPr/>
        </p:nvSpPr>
        <p:spPr>
          <a:xfrm>
            <a:off x="10296144" y="3547872"/>
            <a:ext cx="12435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gap detection, and an immutable audit trail keep it provable.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0F0B2E"/>
          </a:solidFill>
          <a:ln/>
        </p:spPr>
      </p:sp>
      <p:sp>
        <p:nvSpPr>
          <p:cNvPr id="53" name="Shape 44"/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" y="5728716"/>
            <a:ext cx="301752" cy="301752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1508760" y="5559552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PER_CLIENT &amp; ANNUAL obligations fan out immediately on publish. PER_EVENT obligations (e.g. a SCORES complaint) spawn their checklist item the moment the real-world event is logged — with the deadline clock computed automatically.</a:t>
            </a:r>
            <a:endParaRPr lang="en-US" sz="1150" dirty="0"/>
          </a:p>
        </p:txBody>
      </p:sp>
      <p:sp>
        <p:nvSpPr>
          <p:cNvPr id="56" name="Text 4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7" name="Text 4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 you can point to a page number for.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532120" cy="4800600"/>
          </a:xfrm>
          <a:prstGeom prst="roundRect">
            <a:avLst>
              <a:gd name="adj" fmla="val 2667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10512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404" y="193523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agent · Gemini 2.5 Flash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45059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parsed chunk is run through a graph of LLM nodes that propose obligation candidates — code, obligated action, trigger event, frequency, deadline, and penalty/risk — directly from the circular's language.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8680" y="3401568"/>
            <a:ext cx="420624" cy="420624"/>
          </a:xfrm>
          <a:prstGeom prst="ellipse">
            <a:avLst/>
          </a:prstGeom>
          <a:solidFill>
            <a:srgbClr val="6C4CE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20" y="349620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337413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Citation-validated, not trusted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444752" y="363931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validation node rejects any candidate whose citationText isn't a verbatim, exact substring of the source chunk — no hallucinated obligations reach review.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68680" y="4178808"/>
            <a:ext cx="420624" cy="420624"/>
          </a:xfrm>
          <a:prstGeom prst="ellipse">
            <a:avLst/>
          </a:prstGeom>
          <a:solidFill>
            <a:srgbClr val="6C4C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20" y="4273448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44752" y="415137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444752" y="441655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carries an extraction confidence score for reviewer prioritization.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68680" y="4956048"/>
            <a:ext cx="420624" cy="420624"/>
          </a:xfrm>
          <a:prstGeom prst="ellipse">
            <a:avLst/>
          </a:prstGeom>
          <a:solidFill>
            <a:srgbClr val="6C4CE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320" y="5050688"/>
            <a:ext cx="231343" cy="231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44752" y="492861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publish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444752" y="519379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propagates to a live intermediary until a compliance reviewer explicitly publishes it.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309360" y="1508760"/>
            <a:ext cx="5303520" cy="4800600"/>
          </a:xfrm>
          <a:prstGeom prst="roundRect">
            <a:avLst>
              <a:gd name="adj" fmla="val 2667"/>
            </a:avLst>
          </a:prstGeom>
          <a:solidFill>
            <a:srgbClr val="0F0B2E"/>
          </a:solidFill>
          <a:ln/>
        </p:spPr>
      </p:sp>
      <p:sp>
        <p:nvSpPr>
          <p:cNvPr id="22" name="Text 16"/>
          <p:cNvSpPr/>
          <p:nvPr/>
        </p:nvSpPr>
        <p:spPr>
          <a:xfrm>
            <a:off x="662940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OBLIGATION · LIVE EXAMPLE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629400" y="20482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IA-GRIEVANCE-RESOLVE-01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662940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Grievance Resolution via SCORES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629400" y="283464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629400" y="30540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PER_EVENT — triggered by a SCORES complaint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629400" y="334670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629400" y="356616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 from complaint receipt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629400" y="38587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/ RISK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629400" y="407822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action for delayed resolution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6629400" y="4425696"/>
            <a:ext cx="4663440" cy="1371600"/>
          </a:xfrm>
          <a:prstGeom prst="roundRect">
            <a:avLst>
              <a:gd name="adj" fmla="val 6667"/>
            </a:avLst>
          </a:prstGeom>
          <a:solidFill>
            <a:srgbClr val="2A1F82"/>
          </a:solidFill>
          <a:ln/>
        </p:spPr>
      </p:sp>
      <p:sp>
        <p:nvSpPr>
          <p:cNvPr id="32" name="Shape 26"/>
          <p:cNvSpPr/>
          <p:nvPr/>
        </p:nvSpPr>
        <p:spPr>
          <a:xfrm>
            <a:off x="6812280" y="4572000"/>
            <a:ext cx="365760" cy="365760"/>
          </a:xfrm>
          <a:prstGeom prst="ellipse">
            <a:avLst/>
          </a:prstGeom>
          <a:solidFill>
            <a:srgbClr val="6C4CE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4654296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315200" y="4572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CITATION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6812280" y="486460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“...intermediaries shall resolve investor grievances lodged through SCORES within 21 days of receipt...”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6629400" y="5833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Circular for Investment Advisers · p. 14 · §4.2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once. Every applicable client gets tracked.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5588" y="1892808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802" y="200802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328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496312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8036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07308" y="1892808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522" y="200802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25328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(IA)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4828032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21208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39028" y="1892808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242" y="200802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5328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IA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159752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543800" y="1691640"/>
            <a:ext cx="1965960" cy="1554480"/>
          </a:xfrm>
          <a:prstGeom prst="roundRect">
            <a:avLst>
              <a:gd name="adj" fmla="val 7059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70748" y="1892808"/>
            <a:ext cx="512064" cy="51206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962" y="20080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2532888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335584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PER_CLIENT &amp; ANNUAL obligations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37947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STATUS LIFECYCLE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11480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94A3B8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114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2368296" y="411480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6C4CE0"/>
          </a:solidFill>
          <a:ln/>
        </p:spPr>
      </p:sp>
      <p:sp>
        <p:nvSpPr>
          <p:cNvPr id="28" name="Text 22"/>
          <p:cNvSpPr/>
          <p:nvPr/>
        </p:nvSpPr>
        <p:spPr>
          <a:xfrm>
            <a:off x="2368296" y="4114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187952" y="411480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00C2A8"/>
          </a:solidFill>
          <a:ln/>
        </p:spPr>
      </p:sp>
      <p:sp>
        <p:nvSpPr>
          <p:cNvPr id="30" name="Text 24"/>
          <p:cNvSpPr/>
          <p:nvPr/>
        </p:nvSpPr>
        <p:spPr>
          <a:xfrm>
            <a:off x="4187952" y="4114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007608" y="411480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FF5470"/>
          </a:solidFill>
          <a:ln/>
        </p:spPr>
      </p:sp>
      <p:sp>
        <p:nvSpPr>
          <p:cNvPr id="32" name="Text 26"/>
          <p:cNvSpPr/>
          <p:nvPr/>
        </p:nvSpPr>
        <p:spPr>
          <a:xfrm>
            <a:off x="6007608" y="4114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827264" y="4114800"/>
            <a:ext cx="1691640" cy="502920"/>
          </a:xfrm>
          <a:prstGeom prst="roundRect">
            <a:avLst>
              <a:gd name="adj" fmla="val 50909"/>
            </a:avLst>
          </a:prstGeom>
          <a:solidFill>
            <a:srgbClr val="CBD5E1"/>
          </a:solidFill>
          <a:ln/>
        </p:spPr>
      </p:sp>
      <p:sp>
        <p:nvSpPr>
          <p:cNvPr id="34" name="Text 28"/>
          <p:cNvSpPr/>
          <p:nvPr/>
        </p:nvSpPr>
        <p:spPr>
          <a:xfrm>
            <a:off x="7827264" y="41148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48640" y="4892040"/>
            <a:ext cx="8961120" cy="1417320"/>
          </a:xfrm>
          <a:prstGeom prst="roundRect">
            <a:avLst>
              <a:gd name="adj" fmla="val 9032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6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822960" y="5120640"/>
            <a:ext cx="566928" cy="566928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684" y="5245364"/>
            <a:ext cx="317480" cy="3174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554480" y="5120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in three steps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554480" y="54406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upload to R2 → confirm with type/description/validity → item automatically flips to COMPLIANT. Every document, form submission, log entry, or attestation is timestamped and owner-attributed.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9738360" y="1691640"/>
            <a:ext cx="1874520" cy="4617720"/>
          </a:xfrm>
          <a:prstGeom prst="roundRect">
            <a:avLst>
              <a:gd name="adj" fmla="val 6829"/>
            </a:avLst>
          </a:prstGeom>
          <a:solidFill>
            <a:srgbClr val="0F0B2E"/>
          </a:solidFill>
          <a:ln/>
        </p:spPr>
      </p:sp>
      <p:sp>
        <p:nvSpPr>
          <p:cNvPr id="41" name="Shape 34"/>
          <p:cNvSpPr/>
          <p:nvPr/>
        </p:nvSpPr>
        <p:spPr>
          <a:xfrm>
            <a:off x="9966960" y="1965960"/>
            <a:ext cx="502920" cy="50292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0117" y="2079117"/>
            <a:ext cx="276606" cy="27660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966960" y="2606040"/>
            <a:ext cx="1417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checklist, evidence file, gap, and audit entry is scoped to the intermediary's own organization — never visible cross-tenant.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9966960" y="5989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DESIGN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gap before the regulator does.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01368"/>
            <a:ext cx="420624" cy="42062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448" y="189600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134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9808" y="2569464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submitted against a live obligation.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00984" y="16002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801368"/>
            <a:ext cx="420624" cy="42062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792" y="189600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3134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Deadline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502152" y="2569464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has elapsed with the item still open.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53328" y="16002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54496" y="1801368"/>
            <a:ext cx="420624" cy="42062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136" y="189600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3134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Evidence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54496" y="2569464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proof has expired its validity window.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8805672" y="160020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006840" y="1801368"/>
            <a:ext cx="420624" cy="42062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480" y="189600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23134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006840" y="2569464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submitted but doesn't satisfy the obligation.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BY SEVERITY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352044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Shape 19"/>
          <p:cNvSpPr/>
          <p:nvPr/>
        </p:nvSpPr>
        <p:spPr>
          <a:xfrm>
            <a:off x="5989320" y="1600200"/>
            <a:ext cx="5623560" cy="4709160"/>
          </a:xfrm>
          <a:prstGeom prst="roundRect">
            <a:avLst>
              <a:gd name="adj" fmla="val 2718"/>
            </a:avLst>
          </a:prstGeom>
          <a:solidFill>
            <a:srgbClr val="0F0B2E"/>
          </a:solidFill>
          <a:ln/>
        </p:spPr>
      </p:sp>
      <p:sp>
        <p:nvSpPr>
          <p:cNvPr id="27" name="Shape 20"/>
          <p:cNvSpPr/>
          <p:nvPr/>
        </p:nvSpPr>
        <p:spPr>
          <a:xfrm>
            <a:off x="6309360" y="1874520"/>
            <a:ext cx="502920" cy="50292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2517" y="1987677"/>
            <a:ext cx="276606" cy="27660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995160" y="1901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trail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309360" y="2450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— publish, status change, evidence upload, gap detected, gap resolved — is written once, never edited.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6355080" y="3200400"/>
            <a:ext cx="128016" cy="128016"/>
          </a:xfrm>
          <a:prstGeom prst="ellipse">
            <a:avLst/>
          </a:prstGeom>
          <a:solidFill>
            <a:srgbClr val="6C4CE0"/>
          </a:solidFill>
          <a:ln/>
        </p:spPr>
      </p:sp>
      <p:sp>
        <p:nvSpPr>
          <p:cNvPr id="32" name="Text 24"/>
          <p:cNvSpPr/>
          <p:nvPr/>
        </p:nvSpPr>
        <p:spPr>
          <a:xfrm>
            <a:off x="6629400" y="3081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published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0195560" y="30815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SYSTEM_AGENT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6409944" y="3337560"/>
            <a:ext cx="0" cy="384048"/>
          </a:xfrm>
          <a:prstGeom prst="line">
            <a:avLst/>
          </a:prstGeom>
          <a:noFill/>
          <a:ln w="19050">
            <a:solidFill>
              <a:srgbClr val="2A1F8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355080" y="3767328"/>
            <a:ext cx="128016" cy="128016"/>
          </a:xfrm>
          <a:prstGeom prst="ellipse">
            <a:avLst/>
          </a:prstGeom>
          <a:solidFill>
            <a:srgbClr val="6C4CE0"/>
          </a:solidFill>
          <a:ln/>
        </p:spPr>
      </p:sp>
      <p:sp>
        <p:nvSpPr>
          <p:cNvPr id="36" name="Text 28"/>
          <p:cNvSpPr/>
          <p:nvPr/>
        </p:nvSpPr>
        <p:spPr>
          <a:xfrm>
            <a:off x="6629400" y="3648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 created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10195560" y="3648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SYSTEM_AGENT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6409944" y="3904488"/>
            <a:ext cx="0" cy="384048"/>
          </a:xfrm>
          <a:prstGeom prst="line">
            <a:avLst/>
          </a:prstGeom>
          <a:noFill/>
          <a:ln w="19050">
            <a:solidFill>
              <a:srgbClr val="2A1F8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355080" y="4334256"/>
            <a:ext cx="128016" cy="128016"/>
          </a:xfrm>
          <a:prstGeom prst="ellipse">
            <a:avLst/>
          </a:prstGeom>
          <a:solidFill>
            <a:srgbClr val="FF5470"/>
          </a:solidFill>
          <a:ln/>
        </p:spPr>
      </p:sp>
      <p:sp>
        <p:nvSpPr>
          <p:cNvPr id="40" name="Text 32"/>
          <p:cNvSpPr/>
          <p:nvPr/>
        </p:nvSpPr>
        <p:spPr>
          <a:xfrm>
            <a:off x="6629400" y="4215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detected · HIGH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0195560" y="42153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SYSTEM_AGENT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6409944" y="4471416"/>
            <a:ext cx="0" cy="384048"/>
          </a:xfrm>
          <a:prstGeom prst="line">
            <a:avLst/>
          </a:prstGeom>
          <a:noFill/>
          <a:ln w="19050">
            <a:solidFill>
              <a:srgbClr val="2A1F82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355080" y="4901184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4" name="Text 36"/>
          <p:cNvSpPr/>
          <p:nvPr/>
        </p:nvSpPr>
        <p:spPr>
          <a:xfrm>
            <a:off x="6629400" y="4782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uploaded</a:t>
            </a:r>
            <a:endParaRPr lang="en-US" sz="1150" dirty="0"/>
          </a:p>
        </p:txBody>
      </p:sp>
      <p:sp>
        <p:nvSpPr>
          <p:cNvPr id="45" name="Text 37"/>
          <p:cNvSpPr/>
          <p:nvPr/>
        </p:nvSpPr>
        <p:spPr>
          <a:xfrm>
            <a:off x="10195560" y="4782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6409944" y="5038344"/>
            <a:ext cx="0" cy="384048"/>
          </a:xfrm>
          <a:prstGeom prst="line">
            <a:avLst/>
          </a:prstGeom>
          <a:noFill/>
          <a:ln w="19050">
            <a:solidFill>
              <a:srgbClr val="2A1F82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6355080" y="5468112"/>
            <a:ext cx="128016" cy="12801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48" name="Text 40"/>
          <p:cNvSpPr/>
          <p:nvPr/>
        </p:nvSpPr>
        <p:spPr>
          <a:xfrm>
            <a:off x="6629400" y="5349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COMPLIANT</a:t>
            </a: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10195560" y="5349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50" name="Text 4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production-shaped stack, not a demo hack.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420624" cy="42062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60" y="183200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739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1762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Start · React 19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Router / Query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tRPC client · shadcn/ui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50792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70248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53128" y="1737360"/>
            <a:ext cx="420624" cy="42062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768" y="1832000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17739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AGENTS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453128" y="21762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 · tRPC (type-safe)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Gemini 2.5 Flash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Embedding 001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72400" y="2011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6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7991856" y="15544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74736" y="1737360"/>
            <a:ext cx="420624" cy="420624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9376" y="1832000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23376" y="177393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STORAGE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174736" y="217627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pgvector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0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000" dirty="0">
                <a:solidFill>
                  <a:srgbClr val="1A1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 (objects)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48640" y="31546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8E6FB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331012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433572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32918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sidecar (Docling + PaddleOCR)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structure-aware PDF parsing with OCR fallback for scanned circulars, isolated from the TS/AI runtime and independently deployable.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457200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" y="457200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+ Bun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103120" y="4572000"/>
            <a:ext cx="1869034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2103120" y="4572000"/>
            <a:ext cx="1869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everywhere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118458" y="4572000"/>
            <a:ext cx="2176272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118458" y="457200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(multi-tenant auth)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441034" y="4572000"/>
            <a:ext cx="2099462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441034" y="4572000"/>
            <a:ext cx="2099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Zod-validated boundaries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8686800" y="4572000"/>
            <a:ext cx="870509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686800" y="4572000"/>
            <a:ext cx="87050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548640" y="5047488"/>
            <a:ext cx="2022653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548640" y="5047488"/>
            <a:ext cx="20226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Docker-packaged sidecar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2717597" y="5047488"/>
            <a:ext cx="1254557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717597" y="5047488"/>
            <a:ext cx="125455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118458" y="5047488"/>
            <a:ext cx="1869034" cy="384048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118458" y="5047488"/>
            <a:ext cx="186903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548640" y="58064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0F0B2E"/>
          </a:solidFill>
          <a:ln/>
        </p:spPr>
      </p:sp>
      <p:sp>
        <p:nvSpPr>
          <p:cNvPr id="43" name="Text 37"/>
          <p:cNvSpPr/>
          <p:nvPr/>
        </p:nvSpPr>
        <p:spPr>
          <a:xfrm>
            <a:off x="822960" y="58064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running end-to-end today — real PDF in, real published obligations, real checklist fan-out. Not a mockup.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against SEBI's own suggested corpus.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ingested the SEBI Master Circular for Investment Advisers end to end — real PDF, real extraction, real fan-out.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62456" y="2011680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5326" y="211455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circular ingested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6656" y="31272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Master Circular for Investment Advisers, parsed &amp; chunked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66060" y="18288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9876" y="2011680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746" y="21145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4076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extracted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94076" y="31272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IA-RISK-PROFILING-01, IA-GRIEVANCE-RESOLVE-01, citation-grounded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983480" y="18288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97296" y="2011680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166" y="211455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11496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live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111496" y="31272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published to the corpus in one click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7200900" y="18288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14716" y="2011680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586" y="211455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28916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verified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328916" y="31272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items created for a seeded IA intermediary + its clients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9418320" y="1828800"/>
            <a:ext cx="2084832" cy="2148840"/>
          </a:xfrm>
          <a:prstGeom prst="roundRect">
            <a:avLst>
              <a:gd name="adj" fmla="val 526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232136" y="2011680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5006" y="211455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46336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closed the loop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546336" y="31272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Uploaded, confirmed, item flipped to COMPLIANT automatically</a:t>
            </a:r>
            <a:endParaRPr lang="en-US" sz="850" dirty="0"/>
          </a:p>
        </p:txBody>
      </p:sp>
      <p:sp>
        <p:nvSpPr>
          <p:cNvPr id="30" name="Text 23"/>
          <p:cNvSpPr/>
          <p:nvPr/>
        </p:nvSpPr>
        <p:spPr>
          <a:xfrm>
            <a:off x="54864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SNAPSHOT</a:t>
            </a:r>
            <a:endParaRPr lang="en-US" sz="105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57200" y="4526280"/>
          <a:ext cx="356616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2" name="Shape 24"/>
          <p:cNvSpPr/>
          <p:nvPr/>
        </p:nvSpPr>
        <p:spPr>
          <a:xfrm>
            <a:off x="4343400" y="4526280"/>
            <a:ext cx="7269480" cy="2103120"/>
          </a:xfrm>
          <a:prstGeom prst="roundRect">
            <a:avLst>
              <a:gd name="adj" fmla="val 6087"/>
            </a:avLst>
          </a:prstGeom>
          <a:solidFill>
            <a:srgbClr val="0F0B2E"/>
          </a:solidFill>
          <a:ln/>
        </p:spPr>
      </p:sp>
      <p:sp>
        <p:nvSpPr>
          <p:cNvPr id="33" name="Shape 25"/>
          <p:cNvSpPr/>
          <p:nvPr/>
        </p:nvSpPr>
        <p:spPr>
          <a:xfrm>
            <a:off x="4572000" y="4736592"/>
            <a:ext cx="329184" cy="32918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7837" y="4802429"/>
            <a:ext cx="197510" cy="19751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029200" y="4681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monorepo typecheck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029200" y="4937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across all 5 packages</a:t>
            </a:r>
            <a:endParaRPr lang="en-US" sz="950" dirty="0"/>
          </a:p>
        </p:txBody>
      </p:sp>
      <p:sp>
        <p:nvSpPr>
          <p:cNvPr id="37" name="Shape 28"/>
          <p:cNvSpPr/>
          <p:nvPr/>
        </p:nvSpPr>
        <p:spPr>
          <a:xfrm>
            <a:off x="4572000" y="5303520"/>
            <a:ext cx="329184" cy="32918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7837" y="5369357"/>
            <a:ext cx="197510" cy="19751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029200" y="5248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tenant isolation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5029200" y="55046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access verified rejected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4572000" y="5870448"/>
            <a:ext cx="329184" cy="329184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7837" y="5936285"/>
            <a:ext cx="197510" cy="19751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029200" y="5815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10-phase frontend build</a:t>
            </a:r>
            <a:endParaRPr lang="en-US" sz="1100" dirty="0"/>
          </a:p>
        </p:txBody>
      </p:sp>
      <p:sp>
        <p:nvSpPr>
          <p:cNvPr id="44" name="Text 33"/>
          <p:cNvSpPr/>
          <p:nvPr/>
        </p:nvSpPr>
        <p:spPr>
          <a:xfrm>
            <a:off x="5029200" y="607161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Checklists → Gaps → Documents</a:t>
            </a:r>
            <a:endParaRPr lang="en-US" sz="950" dirty="0"/>
          </a:p>
        </p:txBody>
      </p:sp>
      <p:sp>
        <p:nvSpPr>
          <p:cNvPr id="45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6" name="Text 3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category, new circular, zero new code.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propagation engine is data-driven, not hard-coded. Onboarding a new intermediary category or client is a data operation — never a deploy.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 CATEGORIES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6C4CE0"/>
          </a:solidFill>
          <a:ln w="12700">
            <a:solidFill>
              <a:srgbClr val="6C4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58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Advisers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523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77440" y="214884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258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Stockbrokers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27523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206240" y="214884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25856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275234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644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7581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377440" y="31546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32644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37581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06240" y="315468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2644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Infra.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97680" y="37581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263640" y="1828800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9390" y="2114550"/>
            <a:ext cx="251460" cy="2514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068312" y="19202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Category-based fan-out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68312" y="219456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 reaches every matching intermediary automatically.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63640" y="2798064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46520" y="2980944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3083814"/>
            <a:ext cx="251460" cy="25146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068312" y="28895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Tenant-isolated by construction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7068312" y="31638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Org-scoped queries at the data layer — adding tenants adds rows, not risk.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6263640" y="3767328"/>
            <a:ext cx="5349240" cy="868680"/>
          </a:xfrm>
          <a:prstGeom prst="roundRect">
            <a:avLst>
              <a:gd name="adj" fmla="val 12632"/>
            </a:avLst>
          </a:prstGeom>
          <a:solidFill>
            <a:srgbClr val="F6F5FC"/>
          </a:solidFill>
          <a:ln/>
          <a:effectLst>
            <a:outerShdw sx="100000" sy="100000" kx="0" ky="0" algn="bl" rotWithShape="0" blurRad="177800" dist="50800" dir="5400000">
              <a:srgbClr val="1B1464">
                <a:alpha val="6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446520" y="3950208"/>
            <a:ext cx="457200" cy="45720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390" y="4053078"/>
            <a:ext cx="251460" cy="25146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7068312" y="3858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obligation frequencies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7068312" y="413308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PER_CLIENT, ANNUAL, ONE_TIME, PER_EVENT — the engine already models every real cadence.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9032"/>
            </a:avLst>
          </a:prstGeom>
          <a:solidFill>
            <a:srgbClr val="0F0B2E"/>
          </a:solidFill>
          <a:ln/>
        </p:spPr>
      </p:sp>
      <p:sp>
        <p:nvSpPr>
          <p:cNvPr id="40" name="Shape 35"/>
          <p:cNvSpPr/>
          <p:nvPr/>
        </p:nvSpPr>
        <p:spPr>
          <a:xfrm>
            <a:off x="822960" y="5166360"/>
            <a:ext cx="777240" cy="77724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360670"/>
            <a:ext cx="388620" cy="3886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828800" y="512064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intermediaries — SEBI's own stated pain point — gain enterprise-grade compliance tracking without hiring an enterprise-grade compliance team.</a:t>
            </a:r>
            <a:endParaRPr lang="en-US" sz="1450" dirty="0"/>
          </a:p>
        </p:txBody>
      </p:sp>
      <p:sp>
        <p:nvSpPr>
          <p:cNvPr id="43" name="Text 3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REGLENS-AI WINS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directly to SEBI's evaluation criteria.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55064"/>
            <a:ext cx="548640" cy="54864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86738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18488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Impact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434840" y="1618488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exact gap SEBI names: uneven implementation &amp; delayed adaptation across similarly-situated intermediaries.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450592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596896"/>
            <a:ext cx="548640" cy="54864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728570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56032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34840" y="256032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LLM extraction (LangGraph + Gemini), RAG via pgvector, structure-aware OCR/NLP parsing.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392424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538728"/>
            <a:ext cx="548640" cy="54864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670402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50215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434840" y="3502152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concept — a running, typechecked, multi-tenant SaaS verified against a real SEBI circular today.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334256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480560"/>
            <a:ext cx="548640" cy="54864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6122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4439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434840" y="4443984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Category-driven fan-out and tenant isolation scale to every intermediary type with zero new code.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276088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77240" y="5422392"/>
            <a:ext cx="548640" cy="54864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55406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385816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SEBI's Mandate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34840" y="5385816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protection, market development, and supervision — via consistent compliance and a provable audit trail.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category to the full securities market.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6C4CE0"/>
          </a:solidFill>
          <a:ln w="12700">
            <a:solidFill>
              <a:srgbClr val="6C4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7452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230771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803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Advisers, live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5204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verified against the SEBI IA Master Circular.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38728" y="187452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38728" y="2194560"/>
            <a:ext cx="502920" cy="50292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885" y="230771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8728" y="28803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expansion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38728" y="35204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Stockbrokers, RTAs, AMCs, depositories — same engine, new category rows.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27648" y="187452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27648" y="2194560"/>
            <a:ext cx="502920" cy="50292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805" y="2307717"/>
            <a:ext cx="276606" cy="2766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28803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gap alerts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27648" y="35204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Deadline-aware notifications before a gap becomes a finding.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15400" y="1691640"/>
            <a:ext cx="2606040" cy="3017520"/>
          </a:xfrm>
          <a:prstGeom prst="roundRect">
            <a:avLst>
              <a:gd name="adj" fmla="val 4912"/>
            </a:avLst>
          </a:prstGeom>
          <a:solidFill>
            <a:srgbClr val="F6F5FC"/>
          </a:solidFill>
          <a:ln w="12700">
            <a:solidFill>
              <a:srgbClr val="E4E1F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116568" y="187452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C4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116568" y="2194560"/>
            <a:ext cx="502920" cy="502920"/>
          </a:xfrm>
          <a:prstGeom prst="ellipse">
            <a:avLst/>
          </a:prstGeom>
          <a:solidFill>
            <a:srgbClr val="E8E6F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725" y="2307717"/>
            <a:ext cx="276606" cy="27660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16568" y="2880360"/>
            <a:ext cx="2203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0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SEBI-facing supervision view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9116568" y="3520440"/>
            <a:ext cx="22037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Aggregate, anonymized compliance posture across intermediaries for regulatory insight.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4937760"/>
            <a:ext cx="11064240" cy="1371600"/>
          </a:xfrm>
          <a:prstGeom prst="roundRect">
            <a:avLst>
              <a:gd name="adj" fmla="val 9333"/>
            </a:avLst>
          </a:prstGeom>
          <a:solidFill>
            <a:srgbClr val="0F0B2E"/>
          </a:solidFill>
          <a:ln/>
        </p:spPr>
      </p:sp>
      <p:sp>
        <p:nvSpPr>
          <p:cNvPr id="29" name="Shape 23"/>
          <p:cNvSpPr/>
          <p:nvPr/>
        </p:nvSpPr>
        <p:spPr>
          <a:xfrm>
            <a:off x="822960" y="5193792"/>
            <a:ext cx="822960" cy="822960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539953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74520" y="51663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doesn't change as scope grows — only the data does. That's the point: regulatory text becomes operational action, by construction, at any scale.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7315200" cy="7315200"/>
          </a:xfrm>
          <a:prstGeom prst="ellipse">
            <a:avLst/>
          </a:prstGeom>
          <a:solidFill>
            <a:srgbClr val="1B146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6C4CE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SEBI SECURITIES MARKET TECHSPRINT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turn regulatory text into operational action — together.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Problem Statement 2: Agentic Compliance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384048" cy="38404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3414370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3558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prototype, ready for Round 2 demo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917290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8587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SEBI's own suggested IA corpus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4343400"/>
            <a:ext cx="384048" cy="384048"/>
          </a:xfrm>
          <a:prstGeom prst="ellipse">
            <a:avLst/>
          </a:prstGeom>
          <a:solidFill>
            <a:srgbClr val="2A1F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420210"/>
            <a:ext cx="230429" cy="23042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3616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to extend across every intermediary category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22960" y="5166360"/>
            <a:ext cx="10515600" cy="1143000"/>
          </a:xfrm>
          <a:prstGeom prst="roundRect">
            <a:avLst>
              <a:gd name="adj" fmla="val 960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8A6E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097280" y="5303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VIBEARC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97280" y="559612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Roshan Kasmani   ·   Saeed Khan   ·   Zubiya Quadri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35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REGLENS-AI · SEBI TECHSPRINT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RegLens-AI — SEBI Securities Market TechSprint 2026</dc:title>
  <dc:subject>PptxGenJS Presentation</dc:subject>
  <dc:creator>VibeArc</dc:creator>
  <cp:lastModifiedBy>VibeArc</cp:lastModifiedBy>
  <cp:revision>1</cp:revision>
  <dcterms:created xsi:type="dcterms:W3CDTF">2026-07-09T16:38:49Z</dcterms:created>
  <dcterms:modified xsi:type="dcterms:W3CDTF">2026-07-09T16:38:49Z</dcterms:modified>
</cp:coreProperties>
</file>