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2560320"/>
            <a:ext cx="7772400" cy="7772400"/>
          </a:xfrm>
          <a:prstGeom prst="ellipse">
            <a:avLst/>
          </a:prstGeom>
          <a:solidFill>
            <a:srgbClr val="1B1464">
              <a:alpha val="6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023360"/>
            <a:ext cx="5943600" cy="5943600"/>
          </a:xfrm>
          <a:prstGeom prst="ellipse">
            <a:avLst/>
          </a:prstGeom>
          <a:solidFill>
            <a:srgbClr val="6C4CE0">
              <a:alpha val="3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583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SECURITIES MARKET TECHSPRINT 2026  ·  PROBLEM STATEMENT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170432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RegLens-AI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777240" y="23957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compliance — from regulatory text to operational action, automatically.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3200400"/>
            <a:ext cx="10607040" cy="1371600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A6E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3529584"/>
            <a:ext cx="713232" cy="713232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8" y="370789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57400" y="3401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UNSOLVED PROBLEM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057400" y="3675888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regulation lives as unstructured, human-readable text — </a:t>
            </a:r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compliance systems need structured, machine-actionable rules. </a:t>
            </a:r>
            <a:pPr indent="0" marL="0">
              <a:lnSpc>
                <a:spcPct val="128000"/>
              </a:lnSpc>
              <a:buNone/>
            </a:pPr>
            <a:r>
              <a:rPr lang="en-US" sz="14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that gap is the core challenge.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77240" y="4800600"/>
            <a:ext cx="5166360" cy="868680"/>
          </a:xfrm>
          <a:prstGeom prst="roundRect">
            <a:avLst>
              <a:gd name="adj" fmla="val 12632"/>
            </a:avLst>
          </a:prstGeom>
          <a:solidFill>
            <a:srgbClr val="2A1F82"/>
          </a:solidFill>
          <a:ln/>
        </p:spPr>
      </p:sp>
      <p:sp>
        <p:nvSpPr>
          <p:cNvPr id="13" name="Shape 10"/>
          <p:cNvSpPr/>
          <p:nvPr/>
        </p:nvSpPr>
        <p:spPr>
          <a:xfrm>
            <a:off x="996696" y="5006340"/>
            <a:ext cx="457200" cy="457200"/>
          </a:xfrm>
          <a:prstGeom prst="ellipse">
            <a:avLst/>
          </a:prstGeom>
          <a:solidFill>
            <a:srgbClr val="6C4CE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510692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49377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regulatory translation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600200" y="52303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→ machine-actionable obligation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4800600"/>
            <a:ext cx="5166360" cy="868680"/>
          </a:xfrm>
          <a:prstGeom prst="roundRect">
            <a:avLst>
              <a:gd name="adj" fmla="val 12632"/>
            </a:avLst>
          </a:prstGeom>
          <a:solidFill>
            <a:srgbClr val="2A1F82"/>
          </a:solidFill>
          <a:ln/>
        </p:spPr>
      </p:sp>
      <p:sp>
        <p:nvSpPr>
          <p:cNvPr id="18" name="Shape 14"/>
          <p:cNvSpPr/>
          <p:nvPr/>
        </p:nvSpPr>
        <p:spPr>
          <a:xfrm>
            <a:off x="6437376" y="5006340"/>
            <a:ext cx="457200" cy="457200"/>
          </a:xfrm>
          <a:prstGeom prst="ellipse">
            <a:avLst/>
          </a:prstGeom>
          <a:solidFill>
            <a:srgbClr val="6C4CE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510692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40880" y="49377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compliance management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7040880" y="52303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→ evidence → gap → audit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777240" y="5989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VIBEARC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777240" y="62453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Roshan Kasmani   ·   Saeed Khan   ·   Zubiya Quadri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pipeline: circular text in, live compliance out.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RegLens-AI reads a SEBI circular, extracts obligations with an LLM agent, and keeps every intermediary's checklist, evidence, and audit trail live — one publish action updates the whole ecosystem.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737360" cy="2606040"/>
          </a:xfrm>
          <a:prstGeom prst="roundRect">
            <a:avLst>
              <a:gd name="adj" fmla="val 6316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11226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33856" y="2532888"/>
            <a:ext cx="566928" cy="566928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415" y="2660447"/>
            <a:ext cx="311810" cy="3118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2644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76656" y="365760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PDF stored in R2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258568" y="3017520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404872" y="1965960"/>
            <a:ext cx="1737360" cy="260604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51176" y="211226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990088" y="2532888"/>
            <a:ext cx="566928" cy="566928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647" y="2660447"/>
            <a:ext cx="311810" cy="31181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96312" y="32644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2532888" y="365760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+ OCR: structure, tables, page-tagged text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114800" y="3017520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261104" y="1965960"/>
            <a:ext cx="1737360" cy="2606040"/>
          </a:xfrm>
          <a:prstGeom prst="roundRect">
            <a:avLst>
              <a:gd name="adj" fmla="val 6316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407408" y="211226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846320" y="2532888"/>
            <a:ext cx="566928" cy="566928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879" y="2660447"/>
            <a:ext cx="311810" cy="31181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352544" y="32644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4389120" y="365760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Gemini propose obligations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5971032" y="3017520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117336" y="1965960"/>
            <a:ext cx="1737360" cy="260604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263640" y="211226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6702552" y="2532888"/>
            <a:ext cx="566928" cy="566928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111" y="2660447"/>
            <a:ext cx="311810" cy="31181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208776" y="32644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6245352" y="365760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verifies &amp; publishes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7827264" y="3017520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7973568" y="1965960"/>
            <a:ext cx="1737360" cy="2606040"/>
          </a:xfrm>
          <a:prstGeom prst="roundRect">
            <a:avLst>
              <a:gd name="adj" fmla="val 6316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8119872" y="211226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8558784" y="2532888"/>
            <a:ext cx="566928" cy="566928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343" y="2660447"/>
            <a:ext cx="311810" cy="31181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065008" y="32644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Fan-out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8101584" y="365760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auto-created per client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9683496" y="3017520"/>
            <a:ext cx="26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0" name="Shape 33"/>
          <p:cNvSpPr/>
          <p:nvPr/>
        </p:nvSpPr>
        <p:spPr>
          <a:xfrm>
            <a:off x="9829800" y="1965960"/>
            <a:ext cx="1737360" cy="260604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9976104" y="211226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42" name="Shape 35"/>
          <p:cNvSpPr/>
          <p:nvPr/>
        </p:nvSpPr>
        <p:spPr>
          <a:xfrm>
            <a:off x="10415016" y="2532888"/>
            <a:ext cx="566928" cy="566928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2575" y="2660447"/>
            <a:ext cx="311810" cy="31181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921240" y="32644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&amp; Audit</a:t>
            </a:r>
            <a:endParaRPr lang="en-US" sz="1350" dirty="0"/>
          </a:p>
        </p:txBody>
      </p:sp>
      <p:sp>
        <p:nvSpPr>
          <p:cNvPr id="45" name="Text 37"/>
          <p:cNvSpPr/>
          <p:nvPr/>
        </p:nvSpPr>
        <p:spPr>
          <a:xfrm>
            <a:off x="9957816" y="365760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gaps, immutable trail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548640" y="4800600"/>
            <a:ext cx="11064240" cy="1463040"/>
          </a:xfrm>
          <a:prstGeom prst="roundRect">
            <a:avLst>
              <a:gd name="adj" fmla="val 8750"/>
            </a:avLst>
          </a:prstGeom>
          <a:solidFill>
            <a:srgbClr val="0F0B2E"/>
          </a:solidFill>
          <a:ln/>
        </p:spPr>
      </p:sp>
      <p:sp>
        <p:nvSpPr>
          <p:cNvPr id="47" name="Shape 39"/>
          <p:cNvSpPr/>
          <p:nvPr/>
        </p:nvSpPr>
        <p:spPr>
          <a:xfrm>
            <a:off x="868680" y="5138928"/>
            <a:ext cx="777240" cy="777240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990" y="5333238"/>
            <a:ext cx="388620" cy="38862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874520" y="50474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ONCE — THE ECOSYSTEM UPDATES</a:t>
            </a:r>
            <a:endParaRPr lang="en-US" sz="1200" dirty="0"/>
          </a:p>
        </p:txBody>
      </p:sp>
      <p:sp>
        <p:nvSpPr>
          <p:cNvPr id="50" name="Text 41"/>
          <p:cNvSpPr/>
          <p:nvPr/>
        </p:nvSpPr>
        <p:spPr>
          <a:xfrm>
            <a:off x="1874520" y="5358384"/>
            <a:ext cx="9464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an obligation instantly creates checklist items across every matching intermediary and client (PER_CLIENT / ANNUAL). Event-driven obligations (e.g. a SCORES complaint) spawn theirs the moment the real event is logged — deadline clock computed automatically.</a:t>
            </a:r>
            <a:endParaRPr lang="en-US" sz="1250" dirty="0"/>
          </a:p>
        </p:txBody>
      </p:sp>
      <p:sp>
        <p:nvSpPr>
          <p:cNvPr id="51" name="Text 4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REGLENS-AI · SEBI TECHSPRINT 2026 · TEAM VIBEARC</a:t>
            </a:r>
            <a:endParaRPr lang="en-US" sz="900" dirty="0"/>
          </a:p>
        </p:txBody>
      </p:sp>
      <p:sp>
        <p:nvSpPr>
          <p:cNvPr id="52" name="Text 43"/>
          <p:cNvSpPr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TRUSTED BY A REGULATOR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obligation traces to a page number. Every action is logged.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577840" cy="4846320"/>
          </a:xfrm>
          <a:prstGeom prst="roundRect">
            <a:avLst>
              <a:gd name="adj" fmla="val 2642"/>
            </a:avLst>
          </a:prstGeom>
          <a:solidFill>
            <a:srgbClr val="F6F5FC"/>
          </a:solidFill>
          <a:ln/>
          <a:effectLst>
            <a:outerShdw sx="100000" sy="100000" kx="0" ky="0" algn="bl" rotWithShape="0" blurRad="177800" dist="50800" dir="5400000">
              <a:srgbClr val="1B1464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566928" cy="566928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404" y="190780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Citation-grounded extraction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agent (Gemini 2.5 Flash) proposes each obligation — but a validation node rejects any whose citation isn't a verbatim, exact substring of the source text. No hallucinated obligation reaches a human.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68680" y="3310128"/>
            <a:ext cx="4937760" cy="2788920"/>
          </a:xfrm>
          <a:prstGeom prst="roundRect">
            <a:avLst>
              <a:gd name="adj" fmla="val 3279"/>
            </a:avLst>
          </a:prstGeom>
          <a:solidFill>
            <a:srgbClr val="0F0B2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493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IA-GRIEVANCE-RESOLVE-01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097280" y="3858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PER_EVENT · 21-day deadline · SCORES complaint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097280" y="4224528"/>
            <a:ext cx="4480560" cy="1417320"/>
          </a:xfrm>
          <a:prstGeom prst="roundRect">
            <a:avLst>
              <a:gd name="adj" fmla="val 5806"/>
            </a:avLst>
          </a:prstGeom>
          <a:solidFill>
            <a:srgbClr val="2A1F82"/>
          </a:solidFill>
          <a:ln/>
        </p:spPr>
      </p:sp>
      <p:sp>
        <p:nvSpPr>
          <p:cNvPr id="13" name="Shape 10"/>
          <p:cNvSpPr/>
          <p:nvPr/>
        </p:nvSpPr>
        <p:spPr>
          <a:xfrm>
            <a:off x="1261872" y="4370832"/>
            <a:ext cx="347472" cy="347472"/>
          </a:xfrm>
          <a:prstGeom prst="ellipse">
            <a:avLst/>
          </a:prstGeom>
          <a:solidFill>
            <a:srgbClr val="6C4CE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316" y="4447276"/>
            <a:ext cx="194584" cy="1945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37360" y="43799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CITATION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280160" y="464515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“...shall resolve investor grievances lodged through SCORES within 21 days of receipt...”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097280" y="57241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Circular for Investment Advisers · p. 14 · §4.2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355080" y="1481328"/>
            <a:ext cx="5257800" cy="1536192"/>
          </a:xfrm>
          <a:prstGeom prst="roundRect">
            <a:avLst>
              <a:gd name="adj" fmla="val 8333"/>
            </a:avLst>
          </a:prstGeom>
          <a:solidFill>
            <a:srgbClr val="0F0B2E"/>
          </a:solidFill>
          <a:ln/>
        </p:spPr>
      </p:sp>
      <p:sp>
        <p:nvSpPr>
          <p:cNvPr id="19" name="Shape 15"/>
          <p:cNvSpPr/>
          <p:nvPr/>
        </p:nvSpPr>
        <p:spPr>
          <a:xfrm>
            <a:off x="6629400" y="1737360"/>
            <a:ext cx="548640" cy="548640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87452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360920" y="17190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gap detection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7360920" y="2048256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evidence, past deadline, stale proof, and incomplete items are flagged by severity — the exact ongoing-compliance pain SEBI names.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355080" y="3136392"/>
            <a:ext cx="5257800" cy="1536192"/>
          </a:xfrm>
          <a:prstGeom prst="roundRect">
            <a:avLst>
              <a:gd name="adj" fmla="val 8333"/>
            </a:avLst>
          </a:prstGeom>
          <a:solidFill>
            <a:srgbClr val="0F0B2E"/>
          </a:solidFill>
          <a:ln/>
        </p:spPr>
      </p:sp>
      <p:sp>
        <p:nvSpPr>
          <p:cNvPr id="24" name="Shape 19"/>
          <p:cNvSpPr/>
          <p:nvPr/>
        </p:nvSpPr>
        <p:spPr>
          <a:xfrm>
            <a:off x="6629400" y="3392424"/>
            <a:ext cx="548640" cy="548640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529584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60920" y="33741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audit trail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360920" y="370332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publish, status change, evidence upload, and gap resolution is written once, never edited — a complete supervisory record.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355080" y="4791456"/>
            <a:ext cx="5257800" cy="1536192"/>
          </a:xfrm>
          <a:prstGeom prst="roundRect">
            <a:avLst>
              <a:gd name="adj" fmla="val 8333"/>
            </a:avLst>
          </a:prstGeom>
          <a:solidFill>
            <a:srgbClr val="0F0B2E"/>
          </a:solidFill>
          <a:ln/>
        </p:spPr>
      </p:sp>
      <p:sp>
        <p:nvSpPr>
          <p:cNvPr id="29" name="Shape 23"/>
          <p:cNvSpPr/>
          <p:nvPr/>
        </p:nvSpPr>
        <p:spPr>
          <a:xfrm>
            <a:off x="6629400" y="5047488"/>
            <a:ext cx="548640" cy="548640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5184648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60920" y="5029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Multi-tenant by construction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7360920" y="5358384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checklist, file, and gap is org-scoped at the data layer — never visible across intermediaries.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REGLENS-AI · SEBI TECHSPRINT 2026 · TEAM VIBEARC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A MOCKUP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end-to-end today — against SEBI's own suggested corpus.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70048" cy="1965960"/>
          </a:xfrm>
          <a:prstGeom prst="roundRect">
            <a:avLst>
              <a:gd name="adj" fmla="val 5581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2093976"/>
            <a:ext cx="512064" cy="512064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2209190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7157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circular ingested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8096" y="3172968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Master Circular for Investment Advisers — parsed, chunked, embedded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55848" y="1874520"/>
            <a:ext cx="2670048" cy="1965960"/>
          </a:xfrm>
          <a:prstGeom prst="roundRect">
            <a:avLst>
              <a:gd name="adj" fmla="val 5581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75304" y="2093976"/>
            <a:ext cx="512064" cy="512064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518" y="220919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27157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obligations published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75304" y="3172968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Risk-profiling &amp; grievance-resolution, citation-grounded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63056" y="1874520"/>
            <a:ext cx="2670048" cy="1965960"/>
          </a:xfrm>
          <a:prstGeom prst="roundRect">
            <a:avLst>
              <a:gd name="adj" fmla="val 5581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82512" y="2093976"/>
            <a:ext cx="512064" cy="512064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726" y="2209190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82512" y="27157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fan-out verified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82512" y="3172968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items created for a seeded IA intermediary + clients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70264" y="1874520"/>
            <a:ext cx="2670048" cy="1965960"/>
          </a:xfrm>
          <a:prstGeom prst="roundRect">
            <a:avLst>
              <a:gd name="adj" fmla="val 5581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89720" y="2093976"/>
            <a:ext cx="512064" cy="512064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934" y="2209190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7157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closed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189720" y="3172968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uploaded → item auto-flipped to COMPLIANT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PRODUCTION-SHAPED STACK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4434840"/>
            <a:ext cx="3584448" cy="1051560"/>
          </a:xfrm>
          <a:prstGeom prst="roundRect">
            <a:avLst>
              <a:gd name="adj" fmla="val 10435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49808" y="4636008"/>
            <a:ext cx="457200" cy="457200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78" y="4738878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25880" y="4672584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768096" y="505663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Start · React 19 · tRPC · shadcn/ui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288536" y="4434840"/>
            <a:ext cx="3584448" cy="1051560"/>
          </a:xfrm>
          <a:prstGeom prst="roundRect">
            <a:avLst>
              <a:gd name="adj" fmla="val 10435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489704" y="4636008"/>
            <a:ext cx="457200" cy="457200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2574" y="4738878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065776" y="4672584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AGENTS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07992" y="505663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 · tRPC · LangGraph · Gemini 2.5 Flash · Embeddings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8028432" y="4434840"/>
            <a:ext cx="3584448" cy="1051560"/>
          </a:xfrm>
          <a:prstGeom prst="roundRect">
            <a:avLst>
              <a:gd name="adj" fmla="val 10435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229600" y="4636008"/>
            <a:ext cx="457200" cy="457200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2470" y="4738878"/>
            <a:ext cx="251460" cy="25146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805672" y="4672584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STORAGE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8247888" y="505663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· pgvector · Prisma · Cloudflare R2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548640" y="5715000"/>
            <a:ext cx="11064240" cy="658368"/>
          </a:xfrm>
          <a:prstGeom prst="roundRect">
            <a:avLst>
              <a:gd name="adj" fmla="val 16667"/>
            </a:avLst>
          </a:prstGeom>
          <a:solidFill>
            <a:srgbClr val="0F0B2E"/>
          </a:solidFill>
          <a:ln/>
        </p:spPr>
      </p:sp>
      <p:sp>
        <p:nvSpPr>
          <p:cNvPr id="41" name="Shape 32"/>
          <p:cNvSpPr/>
          <p:nvPr/>
        </p:nvSpPr>
        <p:spPr>
          <a:xfrm>
            <a:off x="749808" y="5852160"/>
            <a:ext cx="384048" cy="384048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458" y="5932810"/>
            <a:ext cx="222748" cy="22274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1298448" y="571500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Structure-aware Python sidecar (Docling + PaddleOCR)  </a:t>
            </a:r>
            <a:pPr indent="0" marL="0">
              <a:buNone/>
            </a:pPr>
            <a:r>
              <a:rPr lang="en-US" sz="1100" dirty="0">
                <a:solidFill>
                  <a:srgbClr val="E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scanned circulars · Turborepo + Bun monorepo, fully typed, one command boots everything.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REGLENS-AI · SEBI TECHSPRINT 2026 · TEAM VIBEARC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108960"/>
            <a:ext cx="6400800" cy="6400800"/>
          </a:xfrm>
          <a:prstGeom prst="ellipse">
            <a:avLst/>
          </a:prstGeom>
          <a:solidFill>
            <a:srgbClr val="1B1464">
              <a:alpha val="5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-2377440"/>
            <a:ext cx="5943600" cy="5943600"/>
          </a:xfrm>
          <a:prstGeom prst="ellipse">
            <a:avLst/>
          </a:prstGeom>
          <a:solidFill>
            <a:srgbClr val="6C4CE0">
              <a:alpha val="3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REGLENS-AI DESERVES TO ADVANCE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Mapped directly to SEBI's evaluation criteria.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786384"/>
          </a:xfrm>
          <a:prstGeom prst="roundRect">
            <a:avLst>
              <a:gd name="adj" fmla="val 127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A6E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00200"/>
            <a:ext cx="512064" cy="512064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72821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55448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Impact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297680" y="1554480"/>
            <a:ext cx="7086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SEBI's named gap: uneven implementation &amp; delayed adaptation across similar intermediaries.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11064240" cy="786384"/>
          </a:xfrm>
          <a:prstGeom prst="roundRect">
            <a:avLst>
              <a:gd name="adj" fmla="val 127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A6E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2478024"/>
            <a:ext cx="512064" cy="512064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60604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2432304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297680" y="2432304"/>
            <a:ext cx="7086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LLM extraction, RAG via pgvector, structure-aware OCR/NLP — advanced tech, applied.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218688"/>
            <a:ext cx="11064240" cy="786384"/>
          </a:xfrm>
          <a:prstGeom prst="roundRect">
            <a:avLst>
              <a:gd name="adj" fmla="val 127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A6E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77240" y="3355848"/>
            <a:ext cx="512064" cy="512064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48386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310128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297680" y="3310128"/>
            <a:ext cx="7086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concept — a running, typechecked, multi-tenant SaaS verified on a real SEBI circular.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4096512"/>
            <a:ext cx="11064240" cy="786384"/>
          </a:xfrm>
          <a:prstGeom prst="roundRect">
            <a:avLst>
              <a:gd name="adj" fmla="val 127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A6E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" y="4233672"/>
            <a:ext cx="512064" cy="512064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361688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54480" y="418795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297680" y="4187952"/>
            <a:ext cx="7086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Category-driven fan-out &amp; tenant isolation extend to every intermediary type with zero new code.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48640" y="4974336"/>
            <a:ext cx="11064240" cy="786384"/>
          </a:xfrm>
          <a:prstGeom prst="roundRect">
            <a:avLst>
              <a:gd name="adj" fmla="val 127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8A6EF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77240" y="5111496"/>
            <a:ext cx="512064" cy="512064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239512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54480" y="5065776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SEBI's Mandate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297680" y="5065776"/>
            <a:ext cx="7086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protection, market development &amp; supervision — via consistent, provable compliance.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548640" y="5907024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doesn't change as scope grows — only the data does. </a:t>
            </a:r>
            <a:pPr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text becomes operational action, by construction, at any scale.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548640" y="65653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VIBEARC  ·  Roshan Kasmani · Saeed Khan · Zubiya Quadri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RegLens-AI — SEBI Securities Market TechSprint 2026</dc:title>
  <dc:subject>PptxGenJS Presentation</dc:subject>
  <dc:creator>VibeArc</dc:creator>
  <cp:lastModifiedBy>VibeArc</cp:lastModifiedBy>
  <cp:revision>1</cp:revision>
  <dcterms:created xsi:type="dcterms:W3CDTF">2026-07-09T16:53:44Z</dcterms:created>
  <dcterms:modified xsi:type="dcterms:W3CDTF">2026-07-09T16:53:44Z</dcterms:modified>
</cp:coreProperties>
</file>