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Relationship Id="rId9" Type="http://schemas.openxmlformats.org/officeDocument/2006/relationships/image" Target="../media/image13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8.png"/><Relationship Id="rId9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7.png"/><Relationship Id="rId6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566928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sz="1500" b="1">
                <a:solidFill>
                  <a:srgbClr val="182A27"/>
                </a:solidFill>
                <a:latin typeface="Calibri"/>
              </a:rPr>
              <a:t>Team Details</a:t>
            </a:r>
            <a:endParaRPr b="1" sz="1500"/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0E6B57"/>
                </a:solidFill>
                <a:latin typeface="Calibri"/>
              </a:rPr>
              <a:t>Team name:  </a:t>
            </a:r>
            <a:r>
              <a:rPr sz="1150">
                <a:solidFill>
                  <a:srgbClr val="182A27"/>
                </a:solidFill>
                <a:latin typeface="Calibri"/>
              </a:rPr>
              <a:t>VibeArc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0E6B57"/>
                </a:solidFill>
                <a:latin typeface="Calibri"/>
              </a:rPr>
              <a:t>Team leader:  </a:t>
            </a:r>
            <a:r>
              <a:rPr sz="1150">
                <a:solidFill>
                  <a:srgbClr val="182A27"/>
                </a:solidFill>
                <a:latin typeface="Calibri"/>
              </a:rPr>
              <a:t>Saeed Khan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0E6B57"/>
                </a:solidFill>
                <a:latin typeface="Calibri"/>
              </a:rPr>
              <a:t>Members:  </a:t>
            </a:r>
            <a:r>
              <a:rPr sz="1150">
                <a:solidFill>
                  <a:srgbClr val="182A27"/>
                </a:solidFill>
                <a:latin typeface="Calibri"/>
              </a:rPr>
              <a:t>Roshan Kasmani  ·  Saeed Khan  ·  Zubiya Quadri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0E6B57"/>
                </a:solidFill>
                <a:latin typeface="Calibri"/>
              </a:rPr>
              <a:t>Problem Statement:  </a:t>
            </a:r>
            <a:r>
              <a:rPr sz="1150">
                <a:solidFill>
                  <a:srgbClr val="182A27"/>
                </a:solidFill>
                <a:latin typeface="Calibri"/>
              </a:rPr>
              <a:t>Agentic Compliance — turning SEBI regulatory circulars into tracked, auditable operational action for IDBI Bank.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310128"/>
            <a:ext cx="2788920" cy="1481328"/>
          </a:xfrm>
          <a:prstGeom prst="roundRect">
            <a:avLst>
              <a:gd name="adj" fmla="val 7000"/>
            </a:avLst>
          </a:prstGeom>
          <a:solidFill>
            <a:srgbClr val="0E6B57"/>
          </a:solidFill>
          <a:ln>
            <a:noFill/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28232" y="3493008"/>
            <a:ext cx="512064" cy="512064"/>
          </a:xfrm>
          <a:prstGeom prst="ellipse">
            <a:avLst/>
          </a:prstGeom>
          <a:solidFill>
            <a:srgbClr val="0A4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hiel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621024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68312" y="3493008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RegLens-AI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8232" y="4169663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E9F2EF"/>
                </a:solidFill>
                <a:latin typeface="Calibri"/>
              </a:rPr>
              <a:t>Agentic SEBI compliance,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E9F2EF"/>
                </a:solidFill>
                <a:latin typeface="Calibri"/>
              </a:rPr>
              <a:t>automated end-to-end.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82A27"/>
                </a:solidFill>
                <a:latin typeface="Calibri"/>
              </a:rPr>
              <a:t>IDBI Bank operates under a continuously evolving SEBI regulatory framework — as a Depository Participant, Banker to Issue and through its capital-market functions. </a:t>
            </a:r>
            <a:r>
              <a:rPr sz="1350" b="1" i="0">
                <a:solidFill>
                  <a:srgbClr val="E8611A"/>
                </a:solidFill>
                <a:latin typeface="Calibri"/>
              </a:rPr>
              <a:t>Today, interpreting each circular and converting it into tracked, provable action is manual, slow and penalty-prone.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2331720"/>
            <a:ext cx="2679192" cy="1600200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94360" y="2551176"/>
            <a:ext cx="512064" cy="512064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docsearc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2666390"/>
            <a:ext cx="281635" cy="28163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234440" y="2606039"/>
            <a:ext cx="16733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2A27"/>
                </a:solidFill>
                <a:latin typeface="Calibri"/>
              </a:rPr>
              <a:t>Read &amp; Understand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3172968"/>
            <a:ext cx="22219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5B6B66"/>
                </a:solidFill>
                <a:latin typeface="Calibri"/>
              </a:rPr>
              <a:t>AI ingests every SEBI circular and extracts machine-actionable obligations — with a verbatim citation back to the exact clause.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27832" y="2331720"/>
            <a:ext cx="2679192" cy="1600200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56432" y="2551176"/>
            <a:ext cx="512064" cy="512064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tasks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2666390"/>
            <a:ext cx="281635" cy="28163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096512" y="2606039"/>
            <a:ext cx="16733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2A27"/>
                </a:solidFill>
                <a:latin typeface="Calibri"/>
              </a:rPr>
              <a:t>Track &amp; Comply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56432" y="3172968"/>
            <a:ext cx="22219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5B6B66"/>
                </a:solidFill>
                <a:latin typeface="Calibri"/>
              </a:rPr>
              <a:t>Each obligation auto-generates a live compliance checklist across the right department, with evidence capture and status.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89904" y="2331720"/>
            <a:ext cx="2679192" cy="1600200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318504" y="2551176"/>
            <a:ext cx="512064" cy="512064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3718" y="2666390"/>
            <a:ext cx="281635" cy="281635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958584" y="2606039"/>
            <a:ext cx="16733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2A27"/>
                </a:solidFill>
                <a:latin typeface="Calibri"/>
              </a:rPr>
              <a:t>Detect &amp; Prove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18504" y="3172968"/>
            <a:ext cx="22219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030" b="0" i="0">
                <a:solidFill>
                  <a:srgbClr val="5B6B66"/>
                </a:solidFill>
                <a:latin typeface="Calibri"/>
              </a:rPr>
              <a:t>Gaps are flagged by severity before they become findings; every action is written to an immutable audit trail.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4160520"/>
            <a:ext cx="8412480" cy="749808"/>
          </a:xfrm>
          <a:prstGeom prst="roundRect">
            <a:avLst>
              <a:gd name="adj" fmla="val 9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85216" y="4325112"/>
            <a:ext cx="420624" cy="420624"/>
          </a:xfrm>
          <a:prstGeom prst="ellipse">
            <a:avLst/>
          </a:prstGeom>
          <a:solidFill>
            <a:srgbClr val="0A4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bol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56" y="4419752"/>
            <a:ext cx="231343" cy="231343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188720" y="4160520"/>
            <a:ext cx="7406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9EE8DB"/>
                </a:solidFill>
                <a:latin typeface="Calibri"/>
              </a:rPr>
              <a:t>The shift: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from manual legal interpretation of regulatory text  →  automated, citation-grounded operational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Opportunities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Rounded Rectangle 69"/>
          <p:cNvSpPr/>
          <p:nvPr/>
        </p:nvSpPr>
        <p:spPr>
          <a:xfrm>
            <a:off x="365760" y="1965960"/>
            <a:ext cx="8412480" cy="932688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03504" y="2203704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magic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" y="2306574"/>
            <a:ext cx="251460" cy="2514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234440" y="2093976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6B57"/>
                </a:solidFill>
                <a:latin typeface="Calibri"/>
              </a:rPr>
              <a:t>How different is it?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79" y="2084831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182A27"/>
                </a:solidFill>
                <a:latin typeface="Calibri"/>
              </a:rPr>
              <a:t>Existing GRC / compliance tools are document stores and manual checklists — a human still reads each circular and types in the rules. RegLens-AI automates the interpretation itself: an agent reads the regulation and produces structured, machine-actionable obligations.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3026664"/>
            <a:ext cx="8412480" cy="932688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03504" y="3264408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route-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" y="3367278"/>
            <a:ext cx="251460" cy="25146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34440" y="3154680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6B57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11879" y="3145536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182A27"/>
                </a:solidFill>
                <a:latin typeface="Calibri"/>
              </a:rPr>
              <a:t>It closes the gap between a SEBI circular being issued and IDBI acting on it — auto fan-out of obligations to the right function, live tracking, and gap detection that surfaces risk before it becomes a regulatory finding or penalty.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4087368"/>
            <a:ext cx="8412480" cy="932688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03504" y="4325112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star-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4427982"/>
            <a:ext cx="251460" cy="2514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234440" y="4215384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6B57"/>
                </a:solidFill>
                <a:latin typeface="Calibri"/>
              </a:rPr>
              <a:t>USP of the solution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11879" y="4206240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182A27"/>
                </a:solidFill>
                <a:latin typeface="Calibri"/>
              </a:rPr>
              <a:t>Every obligation is grounded in a verbatim citation (page + section) — fully auditable, zero hallucination. Combined with automatic cross-function fan-out and an immutable audit trail. And it is already built and running end-to-end.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Rounded Rectangle 76"/>
          <p:cNvSpPr/>
          <p:nvPr/>
        </p:nvSpPr>
        <p:spPr>
          <a:xfrm>
            <a:off x="365760" y="1481328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48640" y="166420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docsearc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1767078"/>
            <a:ext cx="251460" cy="25146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30352" y="2194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AI Circular Ingestion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" y="250545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Docling + OCR parse any SEBI PDF into structured, page-tagged text.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487168" y="1481328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670048" y="166420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robot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918" y="1767078"/>
            <a:ext cx="251460" cy="25146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651760" y="2194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Agentic Extraction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51760" y="250545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LangGraph + Gemini extract obligations, citation-validated against the source.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08576" y="1481328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791456" y="166420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network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326" y="1767078"/>
            <a:ext cx="251460" cy="25146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773168" y="2194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Automatic Fan-out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73168" y="250545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One publish creates checklist items across every applicable function/entity.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729984" y="1481328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912864" y="166420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upload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5734" y="1767078"/>
            <a:ext cx="251460" cy="2514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894576" y="2194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Evidence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94576" y="250545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Presigned uploads, auto status-flip to compliant, fully attributed.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3063240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warn-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" y="3348990"/>
            <a:ext cx="251460" cy="25146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530352" y="377647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Gap Detection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0352" y="40873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Missing evidence, past deadlines &amp; stale proof flagged by severity.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487168" y="3063240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670048" y="3246120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history-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2918" y="3348990"/>
            <a:ext cx="251460" cy="25146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2651760" y="377647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Immutable Audit Trail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51760" y="40873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Every action logged once, never edited — a complete supervisory record.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608576" y="3063240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791456" y="3246120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chart-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4326" y="3348990"/>
            <a:ext cx="251460" cy="25146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4773168" y="377647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Compliance Dashboard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73168" y="40873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Live status, open gaps by severity, upcoming deadlines &amp; analytics.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729984" y="3063240"/>
            <a:ext cx="197510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912864" y="3246120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lock-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5734" y="3348990"/>
            <a:ext cx="251460" cy="25146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6894576" y="377647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82A27"/>
                </a:solidFill>
                <a:latin typeface="Calibri"/>
              </a:rPr>
              <a:t>Multi-entity Isolation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94576" y="40873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B66"/>
                </a:solidFill>
                <a:latin typeface="Calibri"/>
              </a:rPr>
              <a:t>Each department/entity sees only its own data — secure by construction.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6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E6B57"/>
                </a:solidFill>
                <a:latin typeface="Calibri"/>
              </a:rPr>
              <a:t>Plus:  </a:t>
            </a:r>
            <a:r>
              <a:rPr sz="1000" b="0" i="0">
                <a:solidFill>
                  <a:srgbClr val="182A27"/>
                </a:solidFill>
                <a:latin typeface="Calibri"/>
              </a:rPr>
              <a:t>background job orchestration (Trigger.dev) with retries  ·  scheduled auto gap-detection  ·  one-click failed-run retry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Rounded Rectangle 83"/>
          <p:cNvSpPr/>
          <p:nvPr/>
        </p:nvSpPr>
        <p:spPr>
          <a:xfrm>
            <a:off x="365760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01</a:t>
            </a:r>
          </a:p>
        </p:txBody>
      </p:sp>
      <p:sp>
        <p:nvSpPr>
          <p:cNvPr id="86" name="Oval 85"/>
          <p:cNvSpPr/>
          <p:nvPr/>
        </p:nvSpPr>
        <p:spPr>
          <a:xfrm>
            <a:off x="704088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fil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" y="2141982"/>
            <a:ext cx="251460" cy="25146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0624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Ingest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056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SEBI circular PDF uploaded to secure storage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81328" y="2468880"/>
            <a:ext cx="178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568195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59636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02</a:t>
            </a:r>
          </a:p>
        </p:txBody>
      </p:sp>
      <p:sp>
        <p:nvSpPr>
          <p:cNvPr id="93" name="Oval 92"/>
          <p:cNvSpPr/>
          <p:nvPr/>
        </p:nvSpPr>
        <p:spPr>
          <a:xfrm>
            <a:off x="1906524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docsearch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393" y="2141982"/>
            <a:ext cx="251460" cy="2514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623060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Parse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50492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Docling + OCR extract structure &amp; page-tagged text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83764" y="2468880"/>
            <a:ext cx="178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770632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62072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03</a:t>
            </a:r>
          </a:p>
        </p:txBody>
      </p:sp>
      <p:sp>
        <p:nvSpPr>
          <p:cNvPr id="100" name="Oval 99"/>
          <p:cNvSpPr/>
          <p:nvPr/>
        </p:nvSpPr>
        <p:spPr>
          <a:xfrm>
            <a:off x="3108960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db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829" y="2141982"/>
            <a:ext cx="251460" cy="25146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825496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Embed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52927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Chunks indexed into pgvector for grounded retrieval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86200" y="2468880"/>
            <a:ext cx="178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973068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64507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04</a:t>
            </a:r>
          </a:p>
        </p:txBody>
      </p:sp>
      <p:sp>
        <p:nvSpPr>
          <p:cNvPr id="107" name="Oval 106"/>
          <p:cNvSpPr/>
          <p:nvPr/>
        </p:nvSpPr>
        <p:spPr>
          <a:xfrm>
            <a:off x="4311396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robot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266" y="2141982"/>
            <a:ext cx="251460" cy="25146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027931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Extract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55363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LangGraph + Gemini propose citation-backed obligations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88636" y="2468880"/>
            <a:ext cx="178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175504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66944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05</a:t>
            </a:r>
          </a:p>
        </p:txBody>
      </p:sp>
      <p:sp>
        <p:nvSpPr>
          <p:cNvPr id="114" name="Oval 113"/>
          <p:cNvSpPr/>
          <p:nvPr/>
        </p:nvSpPr>
        <p:spPr>
          <a:xfrm>
            <a:off x="5513832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gavel-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702" y="2141982"/>
            <a:ext cx="251460" cy="25146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5230368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Review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57800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Compliance officer verifies &amp; publishes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91072" y="2468880"/>
            <a:ext cx="178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377940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69379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06</a:t>
            </a:r>
          </a:p>
        </p:txBody>
      </p:sp>
      <p:sp>
        <p:nvSpPr>
          <p:cNvPr id="121" name="Oval 120"/>
          <p:cNvSpPr/>
          <p:nvPr/>
        </p:nvSpPr>
        <p:spPr>
          <a:xfrm>
            <a:off x="6716268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network-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9138" y="2141982"/>
            <a:ext cx="251460" cy="25146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6432803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Fan-out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60236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Checklists auto-created across applicable functions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3508" y="2468880"/>
            <a:ext cx="178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580375" y="1600200"/>
            <a:ext cx="1133856" cy="2148840"/>
          </a:xfrm>
          <a:prstGeom prst="roundRect">
            <a:avLst>
              <a:gd name="adj" fmla="val 9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71815" y="1709928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611A"/>
                </a:solidFill>
                <a:latin typeface="Calibri"/>
              </a:rPr>
              <a:t>07</a:t>
            </a:r>
          </a:p>
        </p:txBody>
      </p:sp>
      <p:sp>
        <p:nvSpPr>
          <p:cNvPr id="128" name="Oval 127"/>
          <p:cNvSpPr/>
          <p:nvPr/>
        </p:nvSpPr>
        <p:spPr>
          <a:xfrm>
            <a:off x="7918703" y="2039112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shield-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1573" y="2141982"/>
            <a:ext cx="251460" cy="251460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7635240" y="2587752"/>
            <a:ext cx="1024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Track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62671" y="2898648"/>
            <a:ext cx="969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Evidence, gap detection &amp; immutable audit trail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65760" y="4041648"/>
            <a:ext cx="8412480" cy="822960"/>
          </a:xfrm>
          <a:prstGeom prst="roundRect">
            <a:avLst>
              <a:gd name="adj" fmla="val 8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" y="4242816"/>
            <a:ext cx="420624" cy="420624"/>
          </a:xfrm>
          <a:prstGeom prst="ellipse">
            <a:avLst/>
          </a:prstGeom>
          <a:solidFill>
            <a:srgbClr val="0A4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bolt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856" y="4337456"/>
            <a:ext cx="231343" cy="231343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188720" y="4041648"/>
            <a:ext cx="7406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EE8DB"/>
                </a:solidFill>
                <a:latin typeface="Calibri"/>
              </a:rPr>
              <a:t>Publish once — the whole compliance ecosystem updates.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Event-driven obligations (e.g. a SCORES complaint) spawn their checklist item the moment the event is logged, with the deadline clock computed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Rounded Rectangle 90"/>
          <p:cNvSpPr/>
          <p:nvPr/>
        </p:nvSpPr>
        <p:spPr>
          <a:xfrm>
            <a:off x="365760" y="1481328"/>
            <a:ext cx="41148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65760" y="1481328"/>
            <a:ext cx="4114800" cy="256032"/>
          </a:xfrm>
          <a:prstGeom prst="roundRect">
            <a:avLst>
              <a:gd name="adj" fmla="val 5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75488" y="1563624"/>
            <a:ext cx="91440" cy="91440"/>
          </a:xfrm>
          <a:prstGeom prst="ellipse">
            <a:avLst/>
          </a:prstGeom>
          <a:solidFill>
            <a:srgbClr val="E8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5800" y="1481328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Compliance Dashboard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30352" y="1874519"/>
            <a:ext cx="118872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1792" y="193852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5B6B66"/>
                </a:solidFill>
                <a:latin typeface="Calibri"/>
              </a:rPr>
              <a:t>Checklist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1792" y="21214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E6B57"/>
                </a:solidFill>
                <a:latin typeface="Calibri"/>
              </a:rPr>
              <a:t>128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828800" y="1874519"/>
            <a:ext cx="118872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920240" y="193852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5B6B66"/>
                </a:solidFill>
                <a:latin typeface="Calibri"/>
              </a:rPr>
              <a:t>Compliant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20240" y="21214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E6B57"/>
                </a:solidFill>
                <a:latin typeface="Calibri"/>
              </a:rPr>
              <a:t>96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127248" y="1874519"/>
            <a:ext cx="118872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18688" y="193852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5B6B66"/>
                </a:solidFill>
                <a:latin typeface="Calibri"/>
              </a:rPr>
              <a:t>Open Gaps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18688" y="21214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9</a:t>
            </a:r>
          </a:p>
        </p:txBody>
      </p:sp>
      <p:sp>
        <p:nvSpPr>
          <p:cNvPr id="104" name="Oval 103"/>
          <p:cNvSpPr/>
          <p:nvPr/>
        </p:nvSpPr>
        <p:spPr>
          <a:xfrm>
            <a:off x="685800" y="2560320"/>
            <a:ext cx="384048" cy="38404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68096" y="2642616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34440" y="25786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Status donut  ·  gaps by severity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upcoming deadlines list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663440" y="1481328"/>
            <a:ext cx="41148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663440" y="1481328"/>
            <a:ext cx="4114800" cy="256032"/>
          </a:xfrm>
          <a:prstGeom prst="roundRect">
            <a:avLst>
              <a:gd name="adj" fmla="val 5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773168" y="1563624"/>
            <a:ext cx="91440" cy="91440"/>
          </a:xfrm>
          <a:prstGeom prst="ellipse">
            <a:avLst/>
          </a:prstGeom>
          <a:solidFill>
            <a:srgbClr val="E8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983480" y="1481328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Obligation Detail — citation-grounded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46320" y="181051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2A27"/>
                </a:solidFill>
                <a:latin typeface="Calibri"/>
              </a:rPr>
              <a:t>IA-GRIEVANCE-RESOLVE-01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846320" y="2084831"/>
            <a:ext cx="3749039" cy="457200"/>
          </a:xfrm>
          <a:prstGeom prst="roundRect">
            <a:avLst>
              <a:gd name="adj" fmla="val 6000"/>
            </a:avLst>
          </a:prstGeom>
          <a:solidFill>
            <a:srgbClr val="F0F9F6"/>
          </a:solidFill>
          <a:ln w="9525">
            <a:solidFill>
              <a:srgbClr val="0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956048" y="2112264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0E6B57"/>
                </a:solidFill>
                <a:latin typeface="Calibri"/>
              </a:rPr>
              <a:t>“...resolve grievances via SCORES within 21 days...”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46320" y="26060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B66"/>
                </a:solidFill>
                <a:latin typeface="Calibri"/>
              </a:rPr>
              <a:t>Verbatim citation · p.14 · §4.2   </a:t>
            </a:r>
            <a:r>
              <a:rPr sz="800" b="1" i="0">
                <a:solidFill>
                  <a:srgbClr val="E8611A"/>
                </a:solidFill>
                <a:latin typeface="Calibri"/>
              </a:rPr>
              <a:t>[ Publish ]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65760" y="3246120"/>
            <a:ext cx="41148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65760" y="3246120"/>
            <a:ext cx="4114800" cy="256032"/>
          </a:xfrm>
          <a:prstGeom prst="roundRect">
            <a:avLst>
              <a:gd name="adj" fmla="val 5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75488" y="3328415"/>
            <a:ext cx="91440" cy="91440"/>
          </a:xfrm>
          <a:prstGeom prst="ellipse">
            <a:avLst/>
          </a:prstGeom>
          <a:solidFill>
            <a:srgbClr val="E8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5800" y="3246120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Checklist Item — evidence &amp; audit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3611880"/>
            <a:ext cx="96012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B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48640" y="3611880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5B6B66"/>
                </a:solidFill>
                <a:latin typeface="Calibri"/>
              </a:rPr>
              <a:t>PENDING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627632" y="3611880"/>
            <a:ext cx="96012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27632" y="3611880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E6B57"/>
                </a:solidFill>
                <a:latin typeface="Calibri"/>
              </a:rPr>
              <a:t>COMPLIANT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706624" y="3611880"/>
            <a:ext cx="96012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06624" y="3611880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C0392B"/>
                </a:solidFill>
                <a:latin typeface="Calibri"/>
              </a:rPr>
              <a:t>GAP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404164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82A27"/>
                </a:solidFill>
                <a:latin typeface="Calibri"/>
              </a:rPr>
              <a:t>↑ Evidence upload  →  auto-flip to Compliant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✓ Audit trail: publish · status change · upload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63440" y="3246120"/>
            <a:ext cx="41148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4663440" y="3246120"/>
            <a:ext cx="4114800" cy="256032"/>
          </a:xfrm>
          <a:prstGeom prst="roundRect">
            <a:avLst>
              <a:gd name="adj" fmla="val 5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773168" y="3328415"/>
            <a:ext cx="91440" cy="91440"/>
          </a:xfrm>
          <a:prstGeom prst="ellipse">
            <a:avLst/>
          </a:prstGeom>
          <a:solidFill>
            <a:srgbClr val="E8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983480" y="3246120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Gap Triage — by severity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846320" y="3639312"/>
            <a:ext cx="822960" cy="310896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846320" y="36393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760720" y="3639312"/>
            <a:ext cx="822960" cy="310896"/>
          </a:xfrm>
          <a:prstGeom prst="roundRect">
            <a:avLst>
              <a:gd name="adj" fmla="val 16000"/>
            </a:avLst>
          </a:prstGeom>
          <a:solidFill>
            <a:srgbClr val="E8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760720" y="36393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675120" y="3639312"/>
            <a:ext cx="822960" cy="310896"/>
          </a:xfrm>
          <a:prstGeom prst="roundRect">
            <a:avLst>
              <a:gd name="adj" fmla="val 16000"/>
            </a:avLst>
          </a:prstGeom>
          <a:solidFill>
            <a:srgbClr val="C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75120" y="36393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589520" y="3639312"/>
            <a:ext cx="822960" cy="310896"/>
          </a:xfrm>
          <a:prstGeom prst="roundRect">
            <a:avLst>
              <a:gd name="adj" fmla="val 16000"/>
            </a:avLst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589520" y="36393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46320" y="4069080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82A27"/>
                </a:solidFill>
                <a:latin typeface="Calibri"/>
              </a:rPr>
              <a:t>Missing evidence · past deadline · stale proof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Resolve with a note  →  logged to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Rounded Rectangle 97"/>
          <p:cNvSpPr/>
          <p:nvPr/>
        </p:nvSpPr>
        <p:spPr>
          <a:xfrm>
            <a:off x="365760" y="1554480"/>
            <a:ext cx="2615184" cy="1737360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5216" y="175564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reac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" y="1858517"/>
            <a:ext cx="251460" cy="25146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152144" y="1810512"/>
            <a:ext cx="1700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FRONTEND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23957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TanStack Start · React 19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3504" y="2679192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TanStack Router / Query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3504" y="296265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tRPC client · shadcn/ui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62656" y="22128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172968" y="1554480"/>
            <a:ext cx="2615184" cy="1737360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392424" y="175564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brain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294" y="1858517"/>
            <a:ext cx="251460" cy="25146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959352" y="1810512"/>
            <a:ext cx="1700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API + AGENTS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10711" y="23957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Hono · tRPC (type-safe)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10711" y="2679192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LangGraph · Gemini 2.5 Flash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10711" y="296265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Gemini Embedding 001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69864" y="22128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E8611A"/>
                </a:solidFill>
                <a:latin typeface="Calibri"/>
              </a:rPr>
              <a:t>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80176" y="1554480"/>
            <a:ext cx="2615184" cy="1737360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199632" y="1755648"/>
            <a:ext cx="457200" cy="45720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db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502" y="1858517"/>
            <a:ext cx="251460" cy="25146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766560" y="1810512"/>
            <a:ext cx="17007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DATA + STORAGE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17920" y="23957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PostgreSQL · pgvector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2679192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Prisma ORM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296265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82A27"/>
                </a:solidFill>
                <a:latin typeface="Calibri"/>
              </a:rPr>
              <a:t>Cloudflare R2 objects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3520440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F0F9F6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66928" y="3776472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python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" y="3871112"/>
            <a:ext cx="231343" cy="231343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143000" y="3666744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2A27"/>
                </a:solidFill>
                <a:latin typeface="Calibri"/>
              </a:rPr>
              <a:t>Python Docling Sidecar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5B6B66"/>
                </a:solidFill>
                <a:latin typeface="Calibri"/>
              </a:rPr>
              <a:t>Structure-aware PDF parsing + PaddleOCR fallback, isolated &amp; independently deployable.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63440" y="3520440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FCF2EB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864608" y="3776472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bolt-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9248" y="3871112"/>
            <a:ext cx="231343" cy="231343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440680" y="3666744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82A27"/>
                </a:solidFill>
                <a:latin typeface="Calibri"/>
              </a:rPr>
              <a:t>Trigger.dev Background Jobs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5B6B66"/>
                </a:solidFill>
                <a:latin typeface="Calibri"/>
              </a:rPr>
              <a:t>Retryable ingestion &amp; fan-out tasks, scheduled gap detection, run observability.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65760" y="4553712"/>
            <a:ext cx="8412480" cy="329184"/>
          </a:xfrm>
          <a:prstGeom prst="roundRect">
            <a:avLst>
              <a:gd name="adj" fmla="val 14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5760" y="4553712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Auth &amp; multi-tenant isolation via Clerk  ·  every query scoped to the entity's own 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Rounded Rectangle 104"/>
          <p:cNvSpPr/>
          <p:nvPr/>
        </p:nvSpPr>
        <p:spPr>
          <a:xfrm>
            <a:off x="365760" y="1481328"/>
            <a:ext cx="8412480" cy="768096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66928" y="1664208"/>
            <a:ext cx="402336" cy="40233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reac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" y="1754733"/>
            <a:ext cx="221284" cy="221284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097280" y="1481328"/>
            <a:ext cx="16916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Frontend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880360" y="1709928"/>
            <a:ext cx="1186891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80360" y="1709928"/>
            <a:ext cx="11868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TanStack Start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76979" y="1709928"/>
            <a:ext cx="764438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76979" y="1709928"/>
            <a:ext cx="764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React 19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051145" y="1709928"/>
            <a:ext cx="12573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51145" y="1709928"/>
            <a:ext cx="12573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TanStack Router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18173" y="1709928"/>
            <a:ext cx="1186891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18173" y="1709928"/>
            <a:ext cx="11868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TanStack Query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714792" y="1709928"/>
            <a:ext cx="4828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714792" y="1709928"/>
            <a:ext cx="4828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tRPC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65760" y="2377440"/>
            <a:ext cx="8412480" cy="768096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66928" y="2560320"/>
            <a:ext cx="402336" cy="40233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server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" y="2650845"/>
            <a:ext cx="221284" cy="221284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097280" y="2377440"/>
            <a:ext cx="16916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Backend / API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880360" y="2606040"/>
            <a:ext cx="4828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80360" y="2606040"/>
            <a:ext cx="4828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Hono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472891" y="2606040"/>
            <a:ext cx="4828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72891" y="2606040"/>
            <a:ext cx="4828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tRPC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065422" y="2606040"/>
            <a:ext cx="905256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065422" y="2606040"/>
            <a:ext cx="905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Node / Bun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080406" y="2606040"/>
            <a:ext cx="412394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80406" y="2606040"/>
            <a:ext cx="41239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Zod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602528" y="2606040"/>
            <a:ext cx="905256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602528" y="2606040"/>
            <a:ext cx="905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Clerk Auth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65760" y="3273552"/>
            <a:ext cx="8412480" cy="768096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66928" y="3456432"/>
            <a:ext cx="402336" cy="40233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brain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" y="3546957"/>
            <a:ext cx="221284" cy="221284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097280" y="3273552"/>
            <a:ext cx="16916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AI / ML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880360" y="3502152"/>
            <a:ext cx="834847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880360" y="3502152"/>
            <a:ext cx="8348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LangGraph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824935" y="3502152"/>
            <a:ext cx="1327708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824935" y="3502152"/>
            <a:ext cx="13277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Gemini 2.5 Flash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262372" y="3502152"/>
            <a:ext cx="1609344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62372" y="3502152"/>
            <a:ext cx="16093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Gemini Embedding 001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981444" y="3502152"/>
            <a:ext cx="694029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81444" y="3502152"/>
            <a:ext cx="69402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Docling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785201" y="3502152"/>
            <a:ext cx="834847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785201" y="3502152"/>
            <a:ext cx="8348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PaddleOCR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4169664"/>
            <a:ext cx="8412480" cy="768096"/>
          </a:xfrm>
          <a:prstGeom prst="roundRect">
            <a:avLst>
              <a:gd name="adj" fmla="val 6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66928" y="4352544"/>
            <a:ext cx="402336" cy="40233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db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" y="4443069"/>
            <a:ext cx="221284" cy="221284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97280" y="4169664"/>
            <a:ext cx="16916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Data / Infra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880360" y="4398264"/>
            <a:ext cx="905256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880360" y="4398264"/>
            <a:ext cx="905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PostgreSQL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895344" y="4398264"/>
            <a:ext cx="764438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895344" y="4398264"/>
            <a:ext cx="764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pgvector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769510" y="4398264"/>
            <a:ext cx="62362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769510" y="4398264"/>
            <a:ext cx="6236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Prisma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502859" y="4398264"/>
            <a:ext cx="1116482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502859" y="4398264"/>
            <a:ext cx="11164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Cloudflare R2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729069" y="4398264"/>
            <a:ext cx="975664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729069" y="4398264"/>
            <a:ext cx="9756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2A27"/>
                </a:solidFill>
                <a:latin typeface="Calibri"/>
              </a:rPr>
              <a:t>Trigger.dev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TextBox 111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66"/>
                </a:solidFill>
                <a:latin typeface="Calibri"/>
              </a:rPr>
              <a:t>Cloud-native and usage-based — no heavy licensing. Indicative monthly cost for an IDBI pilot deployment: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1810512"/>
            <a:ext cx="8412480" cy="347472"/>
          </a:xfrm>
          <a:prstGeom prst="roundRect">
            <a:avLst>
              <a:gd name="adj" fmla="val 5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1560" y="1810512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931920" y="1810512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06640" y="1810512"/>
            <a:ext cx="1280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Cost band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2157984"/>
            <a:ext cx="8412480" cy="365760"/>
          </a:xfrm>
          <a:prstGeom prst="rect">
            <a:avLst/>
          </a:prstGeom>
          <a:solidFill>
            <a:srgbClr val="F2F7F5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0352" y="2194560"/>
            <a:ext cx="292608" cy="29260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brain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99" y="2256007"/>
            <a:ext cx="169712" cy="169712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969264" y="2157984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82A27"/>
                </a:solidFill>
                <a:latin typeface="Calibri"/>
              </a:rPr>
              <a:t>LLM &amp; Embeddings (Gemini)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31920" y="2157984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B66"/>
                </a:solidFill>
                <a:latin typeface="Calibri"/>
              </a:rPr>
              <a:t>Usage-based per circular processed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06640" y="215798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0E6B57"/>
                </a:solidFill>
                <a:latin typeface="Calibri"/>
              </a:rPr>
              <a:t>Low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5760" y="252374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30352" y="2560320"/>
            <a:ext cx="292608" cy="29260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5" name="Picture 124" descr="db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99" y="2621767"/>
            <a:ext cx="169712" cy="169712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969264" y="2523744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82A27"/>
                </a:solidFill>
                <a:latin typeface="Calibri"/>
              </a:rPr>
              <a:t>Managed Postgres + pgvector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31920" y="2523744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B66"/>
                </a:solidFill>
                <a:latin typeface="Calibri"/>
              </a:rPr>
              <a:t>Serverless / managed tier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06640" y="252374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0E6B57"/>
                </a:solidFill>
                <a:latin typeface="Calibri"/>
              </a:rPr>
              <a:t>Low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5760" y="2889504"/>
            <a:ext cx="8412480" cy="365760"/>
          </a:xfrm>
          <a:prstGeom prst="rect">
            <a:avLst/>
          </a:prstGeom>
          <a:solidFill>
            <a:srgbClr val="F2F7F5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30352" y="2926080"/>
            <a:ext cx="292608" cy="29260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cloud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799" y="2987527"/>
            <a:ext cx="169712" cy="169712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969264" y="2889504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82A27"/>
                </a:solidFill>
                <a:latin typeface="Calibri"/>
              </a:rPr>
              <a:t>Object storage (Cloudflare R2)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2889504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B66"/>
                </a:solidFill>
                <a:latin typeface="Calibri"/>
              </a:rPr>
              <a:t>Documents &amp; evidence, egress-free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06640" y="288950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0E6B57"/>
                </a:solidFill>
                <a:latin typeface="Calibri"/>
              </a:rPr>
              <a:t>Very low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65760" y="325526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30352" y="3291840"/>
            <a:ext cx="292608" cy="29260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bolt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799" y="3353287"/>
            <a:ext cx="169712" cy="169712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969264" y="3255264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82A27"/>
                </a:solidFill>
                <a:latin typeface="Calibri"/>
              </a:rPr>
              <a:t>Background jobs (Trigger.dev)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31920" y="3255264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B66"/>
                </a:solidFill>
                <a:latin typeface="Calibri"/>
              </a:rPr>
              <a:t>Free tier covers pilot volumes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06640" y="325526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E8611A"/>
                </a:solidFill>
                <a:latin typeface="Calibri"/>
              </a:rPr>
              <a:t>Free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3621024"/>
            <a:ext cx="8412480" cy="365760"/>
          </a:xfrm>
          <a:prstGeom prst="rect">
            <a:avLst/>
          </a:prstGeom>
          <a:solidFill>
            <a:srgbClr val="F2F7F5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30352" y="3657600"/>
            <a:ext cx="292608" cy="29260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lock-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799" y="3719047"/>
            <a:ext cx="169712" cy="169712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69264" y="3621024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82A27"/>
                </a:solidFill>
                <a:latin typeface="Calibri"/>
              </a:rPr>
              <a:t>Auth (Clerk)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31920" y="3621024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B66"/>
                </a:solidFill>
                <a:latin typeface="Calibri"/>
              </a:rPr>
              <a:t>Free tier for pilot org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06640" y="362102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E8611A"/>
                </a:solidFill>
                <a:latin typeface="Calibri"/>
              </a:rPr>
              <a:t>Free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65760" y="3986783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30352" y="4023359"/>
            <a:ext cx="292608" cy="292608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server-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799" y="4084807"/>
            <a:ext cx="169712" cy="169712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969264" y="3986783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82A27"/>
                </a:solidFill>
                <a:latin typeface="Calibri"/>
              </a:rPr>
              <a:t>Compute (API + sidecar)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931920" y="3986783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B66"/>
                </a:solidFill>
                <a:latin typeface="Calibri"/>
              </a:rPr>
              <a:t>Small container instances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06640" y="3986783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0E6B57"/>
                </a:solidFill>
                <a:latin typeface="Calibri"/>
              </a:rPr>
              <a:t>Low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4443983"/>
            <a:ext cx="8412480" cy="402336"/>
          </a:xfrm>
          <a:prstGeom prst="roundRect">
            <a:avLst>
              <a:gd name="adj" fmla="val 10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65760" y="4443983"/>
            <a:ext cx="8412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Cost scales with usage, not seats — a pilot runs at a fraction of the cost of a single SEBI penalty avoided.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Rounded Rectangle 118"/>
          <p:cNvSpPr/>
          <p:nvPr/>
        </p:nvSpPr>
        <p:spPr>
          <a:xfrm>
            <a:off x="365760" y="1481328"/>
            <a:ext cx="41148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365760" y="1481328"/>
            <a:ext cx="4114800" cy="274320"/>
          </a:xfrm>
          <a:prstGeom prst="roundRect">
            <a:avLst>
              <a:gd name="adj" fmla="val 4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3776" y="1481328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RegLens-AI · Dashboard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93776" y="1828800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6928" y="188366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1" i="0">
                <a:solidFill>
                  <a:srgbClr val="5B6B66"/>
                </a:solidFill>
                <a:latin typeface="Calibri"/>
              </a:rPr>
              <a:t>Checklist items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" y="2066543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2A27"/>
                </a:solidFill>
                <a:latin typeface="Calibri"/>
              </a:rPr>
              <a:t>128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481328" y="1828800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554480" y="188366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1" i="0">
                <a:solidFill>
                  <a:srgbClr val="5B6B66"/>
                </a:solidFill>
                <a:latin typeface="Calibri"/>
              </a:rPr>
              <a:t>Compliant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54480" y="2066543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E6B57"/>
                </a:solidFill>
                <a:latin typeface="Calibri"/>
              </a:rPr>
              <a:t>96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468880" y="1828800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542032" y="188366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1" i="0">
                <a:solidFill>
                  <a:srgbClr val="5B6B66"/>
                </a:solidFill>
                <a:latin typeface="Calibri"/>
              </a:rPr>
              <a:t>Open gaps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542032" y="2066543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9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456432" y="1828800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29584" y="188366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1" i="0">
                <a:solidFill>
                  <a:srgbClr val="5B6B66"/>
                </a:solidFill>
                <a:latin typeface="Calibri"/>
              </a:rPr>
              <a:t>Published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29584" y="2066543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2A27"/>
                </a:solidFill>
                <a:latin typeface="Calibri"/>
              </a:rPr>
              <a:t>24</a:t>
            </a:r>
          </a:p>
        </p:txBody>
      </p:sp>
      <p:sp>
        <p:nvSpPr>
          <p:cNvPr id="134" name="Oval 133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32104" y="2642616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280160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 i="0">
                <a:solidFill>
                  <a:srgbClr val="182A27"/>
                </a:solidFill>
                <a:latin typeface="Calibri"/>
              </a:rPr>
              <a:t>Checklist status breakdown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0">
                <a:solidFill>
                  <a:srgbClr val="5B6B66"/>
                </a:solidFill>
                <a:latin typeface="Calibri"/>
              </a:rPr>
              <a:t>gaps by severity · upcoming deadlines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663440" y="1481328"/>
            <a:ext cx="41148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4663440" y="1481328"/>
            <a:ext cx="4114800" cy="274320"/>
          </a:xfrm>
          <a:prstGeom prst="roundRect">
            <a:avLst>
              <a:gd name="adj" fmla="val 4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791456" y="1481328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Obligation · citation-grounded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828032" y="1810512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82A27"/>
                </a:solidFill>
                <a:latin typeface="Calibri"/>
              </a:rPr>
              <a:t>IA-GRIEVANCE-RESOLVE-01</a:t>
            </a:r>
            <a:r>
              <a:rPr sz="750" b="1" i="0">
                <a:solidFill>
                  <a:srgbClr val="0E6B57"/>
                </a:solidFill>
                <a:latin typeface="Calibri"/>
              </a:rPr>
              <a:t>   PUBLISHED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828032" y="2066543"/>
            <a:ext cx="3785615" cy="566928"/>
          </a:xfrm>
          <a:prstGeom prst="roundRect">
            <a:avLst>
              <a:gd name="adj" fmla="val 5000"/>
            </a:avLst>
          </a:prstGeom>
          <a:solidFill>
            <a:srgbClr val="0F0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937760" y="2103120"/>
            <a:ext cx="35661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00C2A8"/>
                </a:solidFill>
                <a:latin typeface="Calibri"/>
              </a:rPr>
              <a:t>VERBATIM CITATION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FFFFFF"/>
                </a:solidFill>
                <a:latin typeface="Calibri"/>
              </a:rPr>
              <a:t>“...resolve investor grievances via SCORES within 21 days of receipt...”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828032" y="268833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0" i="0">
                <a:solidFill>
                  <a:srgbClr val="5B6B66"/>
                </a:solidFill>
                <a:latin typeface="Calibri"/>
              </a:rPr>
              <a:t>Master Circular for IA · p.14 · §4.2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3218688"/>
            <a:ext cx="411480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65760" y="3218688"/>
            <a:ext cx="4114800" cy="274320"/>
          </a:xfrm>
          <a:prstGeom prst="roundRect">
            <a:avLst>
              <a:gd name="adj" fmla="val 4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93776" y="3218688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Checklist item · evidence + audit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12064" y="352958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2A27"/>
                </a:solidFill>
                <a:latin typeface="Calibri"/>
              </a:rPr>
              <a:t>Risk Profiling — Client 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063240" y="3529584"/>
            <a:ext cx="1234440" cy="274320"/>
          </a:xfrm>
          <a:prstGeom prst="roundRect">
            <a:avLst>
              <a:gd name="adj" fmla="val 16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063240" y="3529584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COMPLIANT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12064" y="3877056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830" b="0" i="0">
                <a:solidFill>
                  <a:srgbClr val="0E6B57"/>
                </a:solidFill>
                <a:latin typeface="Calibri"/>
              </a:rPr>
              <a:t>Evidence uploaded — 12 Jul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2064" y="413308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830" b="0" i="0">
                <a:solidFill>
                  <a:srgbClr val="182A27"/>
                </a:solidFill>
                <a:latin typeface="Calibri"/>
              </a:rPr>
              <a:t>Status → Compliant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12064" y="4389120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E8611A"/>
                </a:solidFill>
                <a:latin typeface="Calibri"/>
              </a:rPr>
              <a:t>•  </a:t>
            </a:r>
            <a:r>
              <a:rPr sz="830" b="0" i="0">
                <a:solidFill>
                  <a:srgbClr val="5B6B66"/>
                </a:solidFill>
                <a:latin typeface="Calibri"/>
              </a:rPr>
              <a:t>Audit: publish · upload · status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663440" y="3218688"/>
            <a:ext cx="4114800" cy="1627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4663440" y="3218688"/>
            <a:ext cx="4114800" cy="274320"/>
          </a:xfrm>
          <a:prstGeom prst="roundRect">
            <a:avLst>
              <a:gd name="adj" fmla="val 4000"/>
            </a:avLst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91456" y="3218688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Gap triage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566160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82A27"/>
                </a:solidFill>
                <a:latin typeface="Calibri"/>
              </a:rPr>
              <a:t>Past Deadline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23760" y="3584448"/>
            <a:ext cx="1280160" cy="27432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223760" y="3584448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28032" y="3950208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82A27"/>
                </a:solidFill>
                <a:latin typeface="Calibri"/>
              </a:rPr>
              <a:t>Missing Evidence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223760" y="3968496"/>
            <a:ext cx="1280160" cy="274320"/>
          </a:xfrm>
          <a:prstGeom prst="roundRect">
            <a:avLst>
              <a:gd name="adj" fmla="val 16000"/>
            </a:avLst>
          </a:prstGeom>
          <a:solidFill>
            <a:srgbClr val="E86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223760" y="3968496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28032" y="4334256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82A27"/>
                </a:solidFill>
                <a:latin typeface="Calibri"/>
              </a:rPr>
              <a:t>Stale Evidence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223760" y="4352544"/>
            <a:ext cx="1280160" cy="274320"/>
          </a:xfrm>
          <a:prstGeom prst="roundRect">
            <a:avLst>
              <a:gd name="adj" fmla="val 16000"/>
            </a:avLst>
          </a:prstGeom>
          <a:solidFill>
            <a:srgbClr val="C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223760" y="4352544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828032" y="4718304"/>
            <a:ext cx="3749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i="1">
                <a:solidFill>
                  <a:srgbClr val="5B6B66"/>
                </a:solidFill>
                <a:latin typeface="Calibri"/>
              </a:rPr>
              <a:t>Resolve with a note → written to audit trail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ounded Rectangle 125"/>
          <p:cNvSpPr/>
          <p:nvPr/>
        </p:nvSpPr>
        <p:spPr>
          <a:xfrm>
            <a:off x="365760" y="1417320"/>
            <a:ext cx="1975104" cy="102412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2064" y="150876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E8611A"/>
                </a:solidFill>
                <a:latin typeface="Calibri"/>
              </a:rPr>
              <a:t>Minutes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2064" y="1984248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2A27"/>
                </a:solidFill>
                <a:latin typeface="Calibri"/>
              </a:rPr>
              <a:t>circular → tracked obligations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2064" y="2212848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(vs. days of manual review)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487168" y="1417320"/>
            <a:ext cx="1975104" cy="102412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33472" y="150876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E6B57"/>
                </a:solidFill>
                <a:latin typeface="Calibri"/>
              </a:rPr>
              <a:t>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33472" y="1984248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2A27"/>
                </a:solidFill>
                <a:latin typeface="Calibri"/>
              </a:rPr>
              <a:t>obligations auto-extracted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33472" y="2212848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from one real SEBI circular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608576" y="1417320"/>
            <a:ext cx="1975104" cy="102412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54880" y="150876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E6B57"/>
                </a:solidFill>
                <a:latin typeface="Calibri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54880" y="1984248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2A27"/>
                </a:solidFill>
                <a:latin typeface="Calibri"/>
              </a:rPr>
              <a:t>hallucinated obligations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54880" y="2212848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citation-validation rejects them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729984" y="1417320"/>
            <a:ext cx="1975104" cy="102412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876288" y="1508760"/>
            <a:ext cx="1700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E6B57"/>
                </a:solidFill>
                <a:latin typeface="Calibri"/>
              </a:rPr>
              <a:t>100%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76288" y="1984248"/>
            <a:ext cx="17007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2A27"/>
                </a:solidFill>
                <a:latin typeface="Calibri"/>
              </a:rPr>
              <a:t>auditable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76288" y="2212848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>
                <a:solidFill>
                  <a:srgbClr val="5B6B66"/>
                </a:solidFill>
                <a:latin typeface="Calibri"/>
              </a:rPr>
              <a:t>every obligation cites its source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MANUAL COMPLIANCE TODAY  vs.  REGLENS-AI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2980944"/>
            <a:ext cx="2743200" cy="310896"/>
          </a:xfrm>
          <a:prstGeom prst="roundRect">
            <a:avLst>
              <a:gd name="adj" fmla="val 5000"/>
            </a:avLst>
          </a:prstGeom>
          <a:solidFill>
            <a:srgbClr val="F3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2980944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2A27"/>
                </a:solidFill>
                <a:latin typeface="Calibri"/>
              </a:rPr>
              <a:t>Task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154679" y="2980944"/>
            <a:ext cx="2697480" cy="310896"/>
          </a:xfrm>
          <a:prstGeom prst="roundRect">
            <a:avLst>
              <a:gd name="adj" fmla="val 5000"/>
            </a:avLst>
          </a:prstGeom>
          <a:solidFill>
            <a:srgbClr val="F6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154679" y="2980944"/>
            <a:ext cx="2697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0392B"/>
                </a:solidFill>
                <a:latin typeface="Calibri"/>
              </a:rPr>
              <a:t>Manual today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897880" y="2980944"/>
            <a:ext cx="2880360" cy="310896"/>
          </a:xfrm>
          <a:prstGeom prst="roundRect">
            <a:avLst>
              <a:gd name="adj" fmla="val 5000"/>
            </a:avLst>
          </a:prstGeom>
          <a:solidFill>
            <a:srgbClr val="E1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897880" y="2980944"/>
            <a:ext cx="2880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RegLens-AI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5760" y="3291839"/>
            <a:ext cx="8412480" cy="384048"/>
          </a:xfrm>
          <a:prstGeom prst="rect">
            <a:avLst/>
          </a:prstGeom>
          <a:solidFill>
            <a:srgbClr val="F2F7F5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93776" y="3291839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182A27"/>
                </a:solidFill>
                <a:latin typeface="Calibri"/>
              </a:rPr>
              <a:t>Interpret a new circular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46120" y="3291839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Days of manual legal review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989320" y="3291839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E6B57"/>
                </a:solidFill>
                <a:latin typeface="Calibri"/>
              </a:rPr>
              <a:t>Automated in minutes, citation-backed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65760" y="3675887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93776" y="3675887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182A27"/>
                </a:solidFill>
                <a:latin typeface="Calibri"/>
              </a:rPr>
              <a:t>Map to operational action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46120" y="3675887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Spreadsheets, uneven across teams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89320" y="3675887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E6B57"/>
                </a:solidFill>
                <a:latin typeface="Calibri"/>
              </a:rPr>
              <a:t>Auto fan-out to every applicable function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4059935"/>
            <a:ext cx="8412480" cy="384048"/>
          </a:xfrm>
          <a:prstGeom prst="rect">
            <a:avLst/>
          </a:prstGeom>
          <a:solidFill>
            <a:srgbClr val="F2F7F5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93776" y="4059935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182A27"/>
                </a:solidFill>
                <a:latin typeface="Calibri"/>
              </a:rPr>
              <a:t>Detect compliance gaps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46120" y="4059935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Reactive — found during audits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989320" y="4059935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E6B57"/>
                </a:solidFill>
                <a:latin typeface="Calibri"/>
              </a:rPr>
              <a:t>Proactive — flagged by severity, pre-finding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65760" y="4443983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93776" y="4443983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182A27"/>
                </a:solidFill>
                <a:latin typeface="Calibri"/>
              </a:rPr>
              <a:t>Prove compliance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246120" y="4443983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B66"/>
                </a:solidFill>
                <a:latin typeface="Calibri"/>
              </a:rPr>
              <a:t>Manual trail reconstruction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989320" y="4443983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E6B57"/>
                </a:solidFill>
                <a:latin typeface="Calibri"/>
              </a:rPr>
              <a:t>Immutable audit log, always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Rounded Rectangle 132"/>
          <p:cNvSpPr/>
          <p:nvPr/>
        </p:nvSpPr>
        <p:spPr>
          <a:xfrm>
            <a:off x="365760" y="1481328"/>
            <a:ext cx="4114800" cy="987552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66928" y="1755648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network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7" y="1858518"/>
            <a:ext cx="251460" cy="25146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170432" y="1627632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Multi-category expansion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70432" y="192024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B6B66"/>
                </a:solidFill>
                <a:latin typeface="Calibri"/>
              </a:rPr>
              <a:t>Extend beyond one function to every SEBI intermediary type — stockbrokers, DPs, RTAs, AMCs — same engine, new data.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663440" y="1481328"/>
            <a:ext cx="4114800" cy="987552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864608" y="1755648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bell-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478" y="1858518"/>
            <a:ext cx="251460" cy="25146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468112" y="1627632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Predictive deadline alerts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68112" y="192024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B6B66"/>
                </a:solidFill>
                <a:latin typeface="Calibri"/>
              </a:rPr>
              <a:t>Deadline-aware notifications that warn before an obligation lapses into a gap or a finding.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2615184"/>
            <a:ext cx="4114800" cy="987552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66928" y="2889504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plug-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7" y="2992374"/>
            <a:ext cx="251460" cy="25146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170432" y="276148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IDBI system integration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70432" y="3054096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B6B66"/>
                </a:solidFill>
                <a:latin typeface="Calibri"/>
              </a:rPr>
              <a:t>Connect to IDBI's internal compliance, document and workflow systems for straight-through processing.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663440" y="2615184"/>
            <a:ext cx="4114800" cy="987552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864608" y="2889504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history-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7478" y="2992374"/>
            <a:ext cx="251460" cy="25146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5468112" y="2761488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Regulatory change diffing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68112" y="3054096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B6B66"/>
                </a:solidFill>
                <a:latin typeface="Calibri"/>
              </a:rPr>
              <a:t>Detect when a new circular supersedes or amends an existing obligation and re-propagate automatically.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3749039"/>
            <a:ext cx="4114800" cy="987552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66928" y="4023359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chartbar-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97" y="4126229"/>
            <a:ext cx="251460" cy="25146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170432" y="3895344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Supervisory analytics view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70432" y="4187952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B6B66"/>
                </a:solidFill>
                <a:latin typeface="Calibri"/>
              </a:rPr>
              <a:t>Aggregate, board-ready compliance posture across all functions and entities.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663440" y="3749039"/>
            <a:ext cx="4114800" cy="987552"/>
          </a:xfrm>
          <a:prstGeom prst="roundRect">
            <a:avLst>
              <a:gd name="adj" fmla="val 7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864608" y="4023359"/>
            <a:ext cx="457200" cy="45720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bolt-ora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7478" y="4126229"/>
            <a:ext cx="251460" cy="25146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5468112" y="3895344"/>
            <a:ext cx="3154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2A27"/>
                </a:solidFill>
                <a:latin typeface="Calibri"/>
              </a:rPr>
              <a:t>Scale-out fan-out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68112" y="4187952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B6B66"/>
                </a:solidFill>
                <a:latin typeface="Calibri"/>
              </a:rPr>
              <a:t>Batch background processing so a large publish fans out across thousands of items in parallel.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Provide links to your: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Rounded Rectangle 139"/>
          <p:cNvSpPr/>
          <p:nvPr/>
        </p:nvSpPr>
        <p:spPr>
          <a:xfrm>
            <a:off x="365760" y="2331720"/>
            <a:ext cx="8412480" cy="65836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03504" y="2478024"/>
            <a:ext cx="365760" cy="36576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cod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60320"/>
            <a:ext cx="201168" cy="20116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143000" y="2441448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2A27"/>
                </a:solidFill>
                <a:latin typeface="Calibri"/>
              </a:rPr>
              <a:t>GitHub Public Repository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937760" y="2441448"/>
            <a:ext cx="3703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6B57"/>
                </a:solidFill>
                <a:latin typeface="Calibri"/>
              </a:rPr>
              <a:t>github.com/SaeedKhan36/reglens-ai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3172968"/>
            <a:ext cx="8412480" cy="65836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3504" y="3319272"/>
            <a:ext cx="365760" cy="365760"/>
          </a:xfrm>
          <a:prstGeom prst="ellipse">
            <a:avLst/>
          </a:prstGeom>
          <a:solidFill>
            <a:srgbClr val="FC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rocket-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01568"/>
            <a:ext cx="201168" cy="20116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143000" y="3282696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2A27"/>
                </a:solidFill>
                <a:latin typeface="Calibri"/>
              </a:rPr>
              <a:t>Demo Video (3 minutes)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937760" y="3282696"/>
            <a:ext cx="3703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611A"/>
                </a:solidFill>
                <a:latin typeface="Calibri"/>
              </a:rPr>
              <a:t>[ paste your demo video link ]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65760" y="4014215"/>
            <a:ext cx="8412480" cy="658368"/>
          </a:xfrm>
          <a:prstGeom prst="roundRect">
            <a:avLst>
              <a:gd name="adj" fmla="val 8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>
            <a:outerShdw blurRad="80000" dist="30000" dir="5400000" rotWithShape="0">
              <a:srgbClr val="1A2E2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03504" y="4160520"/>
            <a:ext cx="365760" cy="365760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cub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42816"/>
            <a:ext cx="201168" cy="20116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143000" y="4123944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82A27"/>
                </a:solidFill>
                <a:latin typeface="Calibri"/>
              </a:rPr>
              <a:t>Final Product Link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937760" y="4123944"/>
            <a:ext cx="3703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6B57"/>
                </a:solidFill>
                <a:latin typeface="Calibri"/>
              </a:rPr>
              <a:t>[ paste your deployed app link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TextBox 145"/>
          <p:cNvSpPr txBox="1"/>
          <p:nvPr/>
        </p:nvSpPr>
        <p:spPr>
          <a:xfrm>
            <a:off x="548640" y="1600200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611A"/>
                </a:solidFill>
                <a:latin typeface="Calibri"/>
              </a:rPr>
              <a:t>THE BOTTOM LINE FOR IDBI BANK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0080" y="2057400"/>
            <a:ext cx="7863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2A27"/>
                </a:solidFill>
                <a:latin typeface="Calibri"/>
              </a:rPr>
              <a:t>Turn every SEBI circular into tracked, auditable action —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E6B57"/>
                </a:solidFill>
                <a:latin typeface="Calibri"/>
              </a:rPr>
              <a:t>before the penalty, not after.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7219" y="3977639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81811" y="4096511"/>
            <a:ext cx="310896" cy="31089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00" y="4161800"/>
            <a:ext cx="180319" cy="180319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184148" y="3977639"/>
            <a:ext cx="18745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2A27"/>
                </a:solidFill>
                <a:latin typeface="Calibri"/>
              </a:rPr>
              <a:t>Built &amp; running end-to-end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314700" y="3977639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479292" y="4096511"/>
            <a:ext cx="310896" cy="31089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shield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580" y="4161800"/>
            <a:ext cx="180319" cy="180319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3881628" y="3977639"/>
            <a:ext cx="18745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2A27"/>
                </a:solidFill>
                <a:latin typeface="Calibri"/>
              </a:rPr>
              <a:t>Citation-grounded &amp; auditable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12180" y="3977639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F2F7F5"/>
          </a:solidFill>
          <a:ln w="12700">
            <a:solidFill>
              <a:srgbClr val="D6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176772" y="4096511"/>
            <a:ext cx="310896" cy="310896"/>
          </a:xfrm>
          <a:prstGeom prst="ellipse">
            <a:avLst/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rout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060" y="4161800"/>
            <a:ext cx="180319" cy="180319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6579108" y="3977639"/>
            <a:ext cx="18745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2A27"/>
                </a:solidFill>
                <a:latin typeface="Calibri"/>
              </a:rPr>
              <a:t>Scales to every SEBI function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