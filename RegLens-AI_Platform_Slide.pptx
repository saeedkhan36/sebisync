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41414"/>
                </a:solidFill>
                <a:latin typeface="Arial"/>
              </a:rPr>
              <a:t>RegLens-AI</a:t>
            </a:r>
          </a:p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C8102E"/>
                </a:solidFill>
                <a:latin typeface="Arial"/>
              </a:rPr>
              <a:t>A G E N T I C   C O M P L I A N C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"/>
            <a:ext cx="67025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700" b="1" i="0">
                <a:solidFill>
                  <a:srgbClr val="141414"/>
                </a:solidFill>
                <a:latin typeface="Arial"/>
              </a:rPr>
              <a:t>OUR AI COMPLIANCE PLATFORM</a:t>
            </a:r>
          </a:p>
          <a:p>
            <a:pPr algn="ctr">
              <a:lnSpc>
                <a:spcPct val="105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One publish action — the entire compliance ecosystem updates.  Text in, operational compliance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7192" y="256032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141414"/>
                </a:solidFill>
                <a:latin typeface="Arial"/>
              </a:rPr>
              <a:t>SEBI TECHSPRINT 2026</a:t>
            </a:r>
          </a:p>
          <a:p>
            <a:pPr algn="r">
              <a:lnSpc>
                <a:spcPct val="110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PS-2 · Agentic Compliance · Team VibeArc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78992"/>
            <a:ext cx="11551615" cy="1298448"/>
          </a:xfrm>
          <a:prstGeom prst="roundRect">
            <a:avLst>
              <a:gd name="adj" fmla="val 6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8102E"/>
                </a:solidFill>
                <a:latin typeface="Arial"/>
              </a:rPr>
              <a:t>THE PIPELINE</a:t>
            </a:r>
            <a:r>
              <a:rPr sz="1000" b="0" i="1">
                <a:solidFill>
                  <a:srgbClr val="6B7280"/>
                </a:solidFill>
                <a:latin typeface="Calibri"/>
              </a:rPr>
              <a:t>   circular text in → operational compliance 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216152"/>
            <a:ext cx="1241069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289304"/>
            <a:ext cx="1076477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01  </a:t>
            </a:r>
            <a:r>
              <a:rPr sz="1100" b="1" i="0">
                <a:solidFill>
                  <a:srgbClr val="141414"/>
                </a:solidFill>
                <a:latin typeface="Arial"/>
              </a:rPr>
              <a:t>INGEST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SEBI circular PDF 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7413" y="1216152"/>
            <a:ext cx="205739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04009" y="1216152"/>
            <a:ext cx="1241069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6305" y="1289304"/>
            <a:ext cx="1076477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02  </a:t>
            </a:r>
            <a:r>
              <a:rPr sz="1100" b="1" i="0">
                <a:solidFill>
                  <a:srgbClr val="141414"/>
                </a:solidFill>
                <a:latin typeface="Arial"/>
              </a:rPr>
              <a:t>PARSE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Structure &amp; tables read · OCR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5934" y="1216152"/>
            <a:ext cx="205739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2530" y="1216152"/>
            <a:ext cx="1241069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4826" y="1289304"/>
            <a:ext cx="1076477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03  </a:t>
            </a:r>
            <a:r>
              <a:rPr sz="1100" b="1" i="0">
                <a:solidFill>
                  <a:srgbClr val="141414"/>
                </a:solidFill>
                <a:latin typeface="Arial"/>
              </a:rPr>
              <a:t>INDEX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Regulations made AI-searchable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4456" y="1216152"/>
            <a:ext cx="205739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61052" y="1216152"/>
            <a:ext cx="1241069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3348" y="1289304"/>
            <a:ext cx="1076477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04  </a:t>
            </a:r>
            <a:r>
              <a:rPr sz="1100" b="1" i="0">
                <a:solidFill>
                  <a:srgbClr val="141414"/>
                </a:solidFill>
                <a:latin typeface="Arial"/>
              </a:rPr>
              <a:t>EXTRACT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AI drafts obligations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2977" y="1216152"/>
            <a:ext cx="205739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9573" y="1216152"/>
            <a:ext cx="1241069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1869" y="1289304"/>
            <a:ext cx="1076477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05  </a:t>
            </a:r>
            <a:r>
              <a:rPr sz="1100" b="1" i="0">
                <a:solidFill>
                  <a:srgbClr val="141414"/>
                </a:solidFill>
                <a:latin typeface="Arial"/>
              </a:rPr>
              <a:t>VERIFY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Checked verbatim vs circular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1499" y="1216152"/>
            <a:ext cx="205739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18094" y="1216152"/>
            <a:ext cx="1241069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00390" y="1289304"/>
            <a:ext cx="1076477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06  </a:t>
            </a:r>
            <a:r>
              <a:rPr sz="1100" b="1" i="0">
                <a:solidFill>
                  <a:srgbClr val="141414"/>
                </a:solidFill>
                <a:latin typeface="Arial"/>
              </a:rPr>
              <a:t>APPROVE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Human review → publish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0020" y="1216152"/>
            <a:ext cx="205739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46616" y="1216152"/>
            <a:ext cx="1241069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8912" y="1289304"/>
            <a:ext cx="1076477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07  </a:t>
            </a:r>
            <a:r>
              <a:rPr sz="1100" b="1" i="0">
                <a:solidFill>
                  <a:srgbClr val="141414"/>
                </a:solidFill>
                <a:latin typeface="Arial"/>
              </a:rPr>
              <a:t>DISTRIBUTE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Checklists to every 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8541" y="1216152"/>
            <a:ext cx="205739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75137" y="1216152"/>
            <a:ext cx="1241069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57433" y="1289304"/>
            <a:ext cx="1076477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08  </a:t>
            </a:r>
            <a:r>
              <a:rPr sz="1100" b="1" i="0">
                <a:solidFill>
                  <a:srgbClr val="141414"/>
                </a:solidFill>
                <a:latin typeface="Arial"/>
              </a:rPr>
              <a:t>TRACK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Evidence · gaps · audit trail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615184"/>
            <a:ext cx="6784848" cy="1993392"/>
          </a:xfrm>
          <a:prstGeom prst="roundRect">
            <a:avLst>
              <a:gd name="adj" fmla="val 5000"/>
            </a:avLst>
          </a:prstGeom>
          <a:solidFill>
            <a:srgbClr val="FDF4F5"/>
          </a:solidFill>
          <a:ln w="13970">
            <a:solidFill>
              <a:srgbClr val="C8102E"/>
            </a:solidFill>
          </a:ln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277063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1414"/>
                </a:solidFill>
                <a:latin typeface="Arial"/>
              </a:rPr>
              <a:t>AUTOMATIC COMPLIANCE DISTRIBUTION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41848" y="2770632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KEY INNOVATION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3145536"/>
            <a:ext cx="1389888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3145536"/>
            <a:ext cx="12984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41414"/>
                </a:solidFill>
                <a:latin typeface="Arial"/>
              </a:rPr>
              <a:t>Obligation</a:t>
            </a: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published once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84831" y="3145536"/>
            <a:ext cx="2743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Arial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40863" y="3145536"/>
            <a:ext cx="1389888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86583" y="3145536"/>
            <a:ext cx="12984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41414"/>
                </a:solidFill>
                <a:latin typeface="Arial"/>
              </a:rPr>
              <a:t>Category</a:t>
            </a: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matched · e.g. 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12464" y="3145536"/>
            <a:ext cx="2743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Arial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68496" y="3145536"/>
            <a:ext cx="1389888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14215" y="3145536"/>
            <a:ext cx="12984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41414"/>
                </a:solidFill>
                <a:latin typeface="Arial"/>
              </a:rPr>
              <a:t>Every applicable</a:t>
            </a: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intermediary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0096" y="3145536"/>
            <a:ext cx="2743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Arial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96128" y="3145536"/>
            <a:ext cx="1389888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41848" y="3145536"/>
            <a:ext cx="12984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41414"/>
                </a:solidFill>
                <a:latin typeface="Arial"/>
              </a:rPr>
              <a:t>Checklist item</a:t>
            </a: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per client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3831335"/>
            <a:ext cx="627278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Handles one-time, annual, per-client and per-event obligations. Per-event items spawn on real-world triggers (e.g. a SCORES complaint) — the deadline clock is auto-computed (21 days).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4233672"/>
            <a:ext cx="14813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41414"/>
                </a:solidFill>
                <a:latin typeface="Arial"/>
              </a:rPr>
              <a:t>EVERY ITEM TRACKED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240280" y="4178807"/>
            <a:ext cx="908913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800" b="1">
                <a:solidFill>
                  <a:srgbClr val="6B7280"/>
                </a:solidFill>
                <a:latin typeface="Arial"/>
              </a:rPr>
              <a:t>PENDING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77209" y="4178807"/>
            <a:ext cx="120883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800" b="1">
                <a:solidFill>
                  <a:srgbClr val="6B7280"/>
                </a:solidFill>
                <a:latin typeface="Arial"/>
              </a:rPr>
              <a:t>IN PROGRESS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14062" y="4178807"/>
            <a:ext cx="1058875" cy="256032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COMPLIANT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00953" y="4178807"/>
            <a:ext cx="608990" cy="256032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37960" y="4178807"/>
            <a:ext cx="60899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800" b="1">
                <a:solidFill>
                  <a:srgbClr val="6B7280"/>
                </a:solidFill>
                <a:latin typeface="Arial"/>
              </a:rPr>
              <a:t>N/A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24927" y="2615184"/>
            <a:ext cx="4315968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44383" y="2752344"/>
            <a:ext cx="3877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1414"/>
                </a:solidFill>
                <a:latin typeface="Arial"/>
              </a:rPr>
              <a:t>GAP DETECTION</a:t>
            </a:r>
            <a:r>
              <a:rPr sz="950" b="0" i="1">
                <a:solidFill>
                  <a:srgbClr val="C8102E"/>
                </a:solidFill>
                <a:latin typeface="Calibri"/>
              </a:rPr>
              <a:t>   Find the gap before the regulator does.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644383" y="3118104"/>
            <a:ext cx="1865376" cy="475488"/>
          </a:xfrm>
          <a:prstGeom prst="roundRect">
            <a:avLst>
              <a:gd name="adj" fmla="val 12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54111" y="3118104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C8102E"/>
                </a:solidFill>
                <a:latin typeface="Arial"/>
              </a:rPr>
              <a:t>Missing evidence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No proof on a live obligation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56063" y="3118104"/>
            <a:ext cx="1865376" cy="475488"/>
          </a:xfrm>
          <a:prstGeom prst="roundRect">
            <a:avLst>
              <a:gd name="adj" fmla="val 12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65791" y="3118104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C8102E"/>
                </a:solidFill>
                <a:latin typeface="Arial"/>
              </a:rPr>
              <a:t>Past deadline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Due date elapsed, item open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644383" y="3712464"/>
            <a:ext cx="1865376" cy="475488"/>
          </a:xfrm>
          <a:prstGeom prst="roundRect">
            <a:avLst>
              <a:gd name="adj" fmla="val 12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54111" y="3712464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C8102E"/>
                </a:solidFill>
                <a:latin typeface="Arial"/>
              </a:rPr>
              <a:t>Stale evidence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Validity window expired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56063" y="3712464"/>
            <a:ext cx="1865376" cy="475488"/>
          </a:xfrm>
          <a:prstGeom prst="roundRect">
            <a:avLst>
              <a:gd name="adj" fmla="val 12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65791" y="3712464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C8102E"/>
                </a:solidFill>
                <a:latin typeface="Arial"/>
              </a:rPr>
              <a:t>Incomplete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Proof doesn't satisfy obligation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44383" y="4261104"/>
            <a:ext cx="3877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Flagged by severity → written to an immutable, write-once audit trail.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4791456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8102E"/>
                </a:solidFill>
                <a:latin typeface="Arial"/>
              </a:rPr>
              <a:t>PRODUCTION-READY</a:t>
            </a:r>
            <a:r>
              <a:rPr sz="1000" b="0" i="1">
                <a:solidFill>
                  <a:srgbClr val="6B7280"/>
                </a:solidFill>
                <a:latin typeface="Calibri"/>
              </a:rPr>
              <a:t>   not a mockup — outputs you can verify today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5047488"/>
            <a:ext cx="2138415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5216" y="5157216"/>
            <a:ext cx="1882383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Publish once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Every client's checklist updates instantly.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41919" y="5047488"/>
            <a:ext cx="2138415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69935" y="5157216"/>
            <a:ext cx="1882383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C8102E"/>
                </a:solidFill>
                <a:latin typeface="Arial"/>
              </a:rPr>
              <a:t>Live today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SEBI IA Master Circular runs end-to-end.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6639" y="5047488"/>
            <a:ext cx="2138415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154655" y="5157216"/>
            <a:ext cx="1882383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Citation-backed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Every obligation links to the original SEBI text.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1359" y="5047488"/>
            <a:ext cx="2138415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39375" y="5157216"/>
            <a:ext cx="1882383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Instant scaling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New categories are configuration, not code.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596079" y="5047488"/>
            <a:ext cx="2138415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>
            <a:outerShdw blurRad="90000" dist="254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724095" y="5157216"/>
            <a:ext cx="1882383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Tenant isolation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Org-scoped — data never crosses clients.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6053328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1414"/>
                </a:solidFill>
                <a:latin typeface="Arial"/>
              </a:rPr>
              <a:t>SCALES ACROSS SEBI   </a:t>
            </a:r>
            <a:r>
              <a:rPr sz="850" b="1" i="0">
                <a:solidFill>
                  <a:srgbClr val="C8102E"/>
                </a:solidFill>
                <a:latin typeface="Arial"/>
              </a:rPr>
              <a:t>Investment Advisers — LIVE</a:t>
            </a:r>
            <a:r>
              <a:rPr sz="850" b="0" i="0">
                <a:solidFill>
                  <a:srgbClr val="6B7280"/>
                </a:solidFill>
                <a:latin typeface="Calibri"/>
              </a:rPr>
              <a:t>    ·    Stockbrokers    ·    AMCs    ·    RTAs    ·    Depositories    ·    Market Infrastructure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6300216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1414"/>
                </a:solidFill>
                <a:latin typeface="Arial"/>
              </a:rPr>
              <a:t>STACK   </a:t>
            </a:r>
            <a:r>
              <a:rPr sz="850" b="0" i="0">
                <a:solidFill>
                  <a:srgbClr val="9CA3AF"/>
                </a:solidFill>
                <a:latin typeface="Calibri"/>
              </a:rPr>
              <a:t>React 19 + TanStack   ·   Hono + tRPC   ·   LangGraph + Gemini 2.5 Flash   ·   Postgres + pgvector   ·   Cloudflare R2   ·   Docling + PaddleOCR   ·   Clerk multi-tenant auth   ·   TypeScript end-to-end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56539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8102E"/>
                </a:solidFill>
                <a:latin typeface="Arial"/>
              </a:rPr>
              <a:t>03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0" y="6565392"/>
            <a:ext cx="67025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9CA3AF"/>
                </a:solidFill>
                <a:latin typeface="Arial"/>
              </a:rPr>
              <a:t>REGLENS-AI  ·  SEBI TECHSPRINT 2026  ·  TEAM VIBEARC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